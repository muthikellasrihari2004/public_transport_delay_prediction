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7"/>
  </p:notesMasterIdLst>
  <p:handoutMasterIdLst>
    <p:handoutMasterId r:id="rId28"/>
  </p:handoutMasterIdLst>
  <p:sldIdLst>
    <p:sldId id="259" r:id="rId2"/>
    <p:sldId id="260" r:id="rId3"/>
    <p:sldId id="257" r:id="rId4"/>
    <p:sldId id="261" r:id="rId5"/>
    <p:sldId id="262" r:id="rId6"/>
    <p:sldId id="263" r:id="rId7"/>
    <p:sldId id="264" r:id="rId8"/>
    <p:sldId id="265" r:id="rId9"/>
    <p:sldId id="266" r:id="rId10"/>
    <p:sldId id="268" r:id="rId11"/>
    <p:sldId id="267" r:id="rId12"/>
    <p:sldId id="269" r:id="rId13"/>
    <p:sldId id="271" r:id="rId14"/>
    <p:sldId id="272" r:id="rId15"/>
    <p:sldId id="273" r:id="rId16"/>
    <p:sldId id="274" r:id="rId17"/>
    <p:sldId id="275" r:id="rId18"/>
    <p:sldId id="276" r:id="rId19"/>
    <p:sldId id="277" r:id="rId20"/>
    <p:sldId id="278" r:id="rId21"/>
    <p:sldId id="283" r:id="rId22"/>
    <p:sldId id="279" r:id="rId23"/>
    <p:sldId id="280" r:id="rId24"/>
    <p:sldId id="281" r:id="rId25"/>
    <p:sldId id="282"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7E909E-49C6-4718-A0E3-CB5CD05019A7}" v="32" dt="2026-01-29T16:16:45.0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25" autoAdjust="0"/>
    <p:restoredTop sz="94618" autoAdjust="0"/>
  </p:normalViewPr>
  <p:slideViewPr>
    <p:cSldViewPr>
      <p:cViewPr>
        <p:scale>
          <a:sx n="75" d="100"/>
          <a:sy n="75" d="100"/>
        </p:scale>
        <p:origin x="1700" y="33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3196"/>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thikella Srihari" userId="b06b8e4d5d6fd552" providerId="LiveId" clId="{EB7ED397-7888-414E-8B87-0A65F053BD15}"/>
    <pc:docChg chg="undo custSel addSld delSld modSld modMainMaster">
      <pc:chgData name="Muthikella Srihari" userId="b06b8e4d5d6fd552" providerId="LiveId" clId="{EB7ED397-7888-414E-8B87-0A65F053BD15}" dt="2026-01-29T16:23:02.216" v="537" actId="1076"/>
      <pc:docMkLst>
        <pc:docMk/>
      </pc:docMkLst>
      <pc:sldChg chg="modSp mod">
        <pc:chgData name="Muthikella Srihari" userId="b06b8e4d5d6fd552" providerId="LiveId" clId="{EB7ED397-7888-414E-8B87-0A65F053BD15}" dt="2026-01-29T16:03:34.261" v="404" actId="207"/>
        <pc:sldMkLst>
          <pc:docMk/>
          <pc:sldMk cId="0" sldId="257"/>
        </pc:sldMkLst>
        <pc:spChg chg="mod">
          <ac:chgData name="Muthikella Srihari" userId="b06b8e4d5d6fd552" providerId="LiveId" clId="{EB7ED397-7888-414E-8B87-0A65F053BD15}" dt="2026-01-29T16:03:34.261" v="404" actId="207"/>
          <ac:spMkLst>
            <pc:docMk/>
            <pc:sldMk cId="0" sldId="257"/>
            <ac:spMk id="36867" creationId="{050309BE-559A-1537-6FCC-B358B0FC94B0}"/>
          </ac:spMkLst>
        </pc:spChg>
      </pc:sldChg>
      <pc:sldChg chg="del">
        <pc:chgData name="Muthikella Srihari" userId="b06b8e4d5d6fd552" providerId="LiveId" clId="{EB7ED397-7888-414E-8B87-0A65F053BD15}" dt="2026-01-29T15:32:10.583" v="167" actId="47"/>
        <pc:sldMkLst>
          <pc:docMk/>
          <pc:sldMk cId="0" sldId="258"/>
        </pc:sldMkLst>
      </pc:sldChg>
      <pc:sldChg chg="modSp mod">
        <pc:chgData name="Muthikella Srihari" userId="b06b8e4d5d6fd552" providerId="LiveId" clId="{EB7ED397-7888-414E-8B87-0A65F053BD15}" dt="2026-01-29T16:20:47.512" v="528" actId="207"/>
        <pc:sldMkLst>
          <pc:docMk/>
          <pc:sldMk cId="2276711116" sldId="259"/>
        </pc:sldMkLst>
        <pc:spChg chg="mod">
          <ac:chgData name="Muthikella Srihari" userId="b06b8e4d5d6fd552" providerId="LiveId" clId="{EB7ED397-7888-414E-8B87-0A65F053BD15}" dt="2026-01-29T16:20:47.512" v="528" actId="207"/>
          <ac:spMkLst>
            <pc:docMk/>
            <pc:sldMk cId="2276711116" sldId="259"/>
            <ac:spMk id="3" creationId="{C0904B58-D61A-04DC-B355-0C74E5661CAB}"/>
          </ac:spMkLst>
        </pc:spChg>
        <pc:graphicFrameChg chg="mod modGraphic">
          <ac:chgData name="Muthikella Srihari" userId="b06b8e4d5d6fd552" providerId="LiveId" clId="{EB7ED397-7888-414E-8B87-0A65F053BD15}" dt="2026-01-29T16:20:28.655" v="527" actId="1076"/>
          <ac:graphicFrameMkLst>
            <pc:docMk/>
            <pc:sldMk cId="2276711116" sldId="259"/>
            <ac:graphicFrameMk id="4" creationId="{4105305B-10CE-1345-15A5-50027188FEE1}"/>
          </ac:graphicFrameMkLst>
        </pc:graphicFrameChg>
        <pc:picChg chg="mod">
          <ac:chgData name="Muthikella Srihari" userId="b06b8e4d5d6fd552" providerId="LiveId" clId="{EB7ED397-7888-414E-8B87-0A65F053BD15}" dt="2026-01-29T16:20:17.980" v="526" actId="1076"/>
          <ac:picMkLst>
            <pc:docMk/>
            <pc:sldMk cId="2276711116" sldId="259"/>
            <ac:picMk id="6" creationId="{3AE688BE-4519-350E-31EB-EC4477AE3305}"/>
          </ac:picMkLst>
        </pc:picChg>
      </pc:sldChg>
      <pc:sldChg chg="modSp mod">
        <pc:chgData name="Muthikella Srihari" userId="b06b8e4d5d6fd552" providerId="LiveId" clId="{EB7ED397-7888-414E-8B87-0A65F053BD15}" dt="2026-01-29T16:03:17.978" v="402" actId="207"/>
        <pc:sldMkLst>
          <pc:docMk/>
          <pc:sldMk cId="3228427410" sldId="260"/>
        </pc:sldMkLst>
        <pc:spChg chg="mod">
          <ac:chgData name="Muthikella Srihari" userId="b06b8e4d5d6fd552" providerId="LiveId" clId="{EB7ED397-7888-414E-8B87-0A65F053BD15}" dt="2026-01-29T16:03:17.978" v="402" actId="207"/>
          <ac:spMkLst>
            <pc:docMk/>
            <pc:sldMk cId="3228427410" sldId="260"/>
            <ac:spMk id="3" creationId="{C1C85B0E-F12F-42FE-025D-23802117FEB7}"/>
          </ac:spMkLst>
        </pc:spChg>
      </pc:sldChg>
      <pc:sldChg chg="modSp mod">
        <pc:chgData name="Muthikella Srihari" userId="b06b8e4d5d6fd552" providerId="LiveId" clId="{EB7ED397-7888-414E-8B87-0A65F053BD15}" dt="2026-01-29T16:04:19.345" v="411" actId="1076"/>
        <pc:sldMkLst>
          <pc:docMk/>
          <pc:sldMk cId="1266169375" sldId="261"/>
        </pc:sldMkLst>
        <pc:spChg chg="mod">
          <ac:chgData name="Muthikella Srihari" userId="b06b8e4d5d6fd552" providerId="LiveId" clId="{EB7ED397-7888-414E-8B87-0A65F053BD15}" dt="2026-01-29T16:04:19.345" v="411" actId="1076"/>
          <ac:spMkLst>
            <pc:docMk/>
            <pc:sldMk cId="1266169375" sldId="261"/>
            <ac:spMk id="3" creationId="{ADAD5E82-6999-1F51-60E5-9FBAB119905F}"/>
          </ac:spMkLst>
        </pc:spChg>
      </pc:sldChg>
      <pc:sldChg chg="modSp mod">
        <pc:chgData name="Muthikella Srihari" userId="b06b8e4d5d6fd552" providerId="LiveId" clId="{EB7ED397-7888-414E-8B87-0A65F053BD15}" dt="2026-01-29T16:04:38.078" v="414" actId="122"/>
        <pc:sldMkLst>
          <pc:docMk/>
          <pc:sldMk cId="246638394" sldId="262"/>
        </pc:sldMkLst>
        <pc:spChg chg="mod">
          <ac:chgData name="Muthikella Srihari" userId="b06b8e4d5d6fd552" providerId="LiveId" clId="{EB7ED397-7888-414E-8B87-0A65F053BD15}" dt="2026-01-29T16:04:38.078" v="414" actId="122"/>
          <ac:spMkLst>
            <pc:docMk/>
            <pc:sldMk cId="246638394" sldId="262"/>
            <ac:spMk id="3" creationId="{B0D082CF-D244-4BEC-13DC-8A7C990F694A}"/>
          </ac:spMkLst>
        </pc:spChg>
      </pc:sldChg>
      <pc:sldChg chg="modSp mod">
        <pc:chgData name="Muthikella Srihari" userId="b06b8e4d5d6fd552" providerId="LiveId" clId="{EB7ED397-7888-414E-8B87-0A65F053BD15}" dt="2026-01-29T16:05:00.614" v="417" actId="207"/>
        <pc:sldMkLst>
          <pc:docMk/>
          <pc:sldMk cId="2193508950" sldId="263"/>
        </pc:sldMkLst>
        <pc:spChg chg="mod">
          <ac:chgData name="Muthikella Srihari" userId="b06b8e4d5d6fd552" providerId="LiveId" clId="{EB7ED397-7888-414E-8B87-0A65F053BD15}" dt="2026-01-29T16:05:00.614" v="417" actId="207"/>
          <ac:spMkLst>
            <pc:docMk/>
            <pc:sldMk cId="2193508950" sldId="263"/>
            <ac:spMk id="3" creationId="{25352B88-C6CB-F424-3F87-450D125A06C4}"/>
          </ac:spMkLst>
        </pc:spChg>
      </pc:sldChg>
      <pc:sldChg chg="modSp mod">
        <pc:chgData name="Muthikella Srihari" userId="b06b8e4d5d6fd552" providerId="LiveId" clId="{EB7ED397-7888-414E-8B87-0A65F053BD15}" dt="2026-01-29T16:21:25.223" v="529" actId="1076"/>
        <pc:sldMkLst>
          <pc:docMk/>
          <pc:sldMk cId="4002521402" sldId="264"/>
        </pc:sldMkLst>
        <pc:spChg chg="mod">
          <ac:chgData name="Muthikella Srihari" userId="b06b8e4d5d6fd552" providerId="LiveId" clId="{EB7ED397-7888-414E-8B87-0A65F053BD15}" dt="2026-01-29T16:21:25.223" v="529" actId="1076"/>
          <ac:spMkLst>
            <pc:docMk/>
            <pc:sldMk cId="4002521402" sldId="264"/>
            <ac:spMk id="3" creationId="{DF1D04C5-E59B-E7F6-6DCC-02A3916AE232}"/>
          </ac:spMkLst>
        </pc:spChg>
      </pc:sldChg>
      <pc:sldChg chg="modSp mod">
        <pc:chgData name="Muthikella Srihari" userId="b06b8e4d5d6fd552" providerId="LiveId" clId="{EB7ED397-7888-414E-8B87-0A65F053BD15}" dt="2026-01-29T16:06:02.685" v="428" actId="1076"/>
        <pc:sldMkLst>
          <pc:docMk/>
          <pc:sldMk cId="631102056" sldId="265"/>
        </pc:sldMkLst>
        <pc:spChg chg="mod">
          <ac:chgData name="Muthikella Srihari" userId="b06b8e4d5d6fd552" providerId="LiveId" clId="{EB7ED397-7888-414E-8B87-0A65F053BD15}" dt="2026-01-29T16:06:02.685" v="428" actId="1076"/>
          <ac:spMkLst>
            <pc:docMk/>
            <pc:sldMk cId="631102056" sldId="265"/>
            <ac:spMk id="3" creationId="{ED97F093-02E1-612E-FD22-4133570E9AF0}"/>
          </ac:spMkLst>
        </pc:spChg>
      </pc:sldChg>
      <pc:sldChg chg="modSp mod">
        <pc:chgData name="Muthikella Srihari" userId="b06b8e4d5d6fd552" providerId="LiveId" clId="{EB7ED397-7888-414E-8B87-0A65F053BD15}" dt="2026-01-29T16:21:36.003" v="530" actId="1076"/>
        <pc:sldMkLst>
          <pc:docMk/>
          <pc:sldMk cId="475541188" sldId="266"/>
        </pc:sldMkLst>
        <pc:spChg chg="mod">
          <ac:chgData name="Muthikella Srihari" userId="b06b8e4d5d6fd552" providerId="LiveId" clId="{EB7ED397-7888-414E-8B87-0A65F053BD15}" dt="2026-01-29T16:21:36.003" v="530" actId="1076"/>
          <ac:spMkLst>
            <pc:docMk/>
            <pc:sldMk cId="475541188" sldId="266"/>
            <ac:spMk id="3" creationId="{79C78ABC-C9B9-6D00-BC35-08DB73A08225}"/>
          </ac:spMkLst>
        </pc:spChg>
      </pc:sldChg>
      <pc:sldChg chg="modSp mod">
        <pc:chgData name="Muthikella Srihari" userId="b06b8e4d5d6fd552" providerId="LiveId" clId="{EB7ED397-7888-414E-8B87-0A65F053BD15}" dt="2026-01-29T16:22:08.583" v="533" actId="14100"/>
        <pc:sldMkLst>
          <pc:docMk/>
          <pc:sldMk cId="2123189512" sldId="267"/>
        </pc:sldMkLst>
        <pc:spChg chg="mod">
          <ac:chgData name="Muthikella Srihari" userId="b06b8e4d5d6fd552" providerId="LiveId" clId="{EB7ED397-7888-414E-8B87-0A65F053BD15}" dt="2026-01-29T16:22:08.583" v="533" actId="14100"/>
          <ac:spMkLst>
            <pc:docMk/>
            <pc:sldMk cId="2123189512" sldId="267"/>
            <ac:spMk id="3" creationId="{656088BB-DCCB-F2B9-7140-49AFE202E736}"/>
          </ac:spMkLst>
        </pc:spChg>
      </pc:sldChg>
      <pc:sldChg chg="addSp modSp mod">
        <pc:chgData name="Muthikella Srihari" userId="b06b8e4d5d6fd552" providerId="LiveId" clId="{EB7ED397-7888-414E-8B87-0A65F053BD15}" dt="2026-01-29T16:22:28.972" v="535" actId="1076"/>
        <pc:sldMkLst>
          <pc:docMk/>
          <pc:sldMk cId="3335407237" sldId="269"/>
        </pc:sldMkLst>
        <pc:spChg chg="mod">
          <ac:chgData name="Muthikella Srihari" userId="b06b8e4d5d6fd552" providerId="LiveId" clId="{EB7ED397-7888-414E-8B87-0A65F053BD15}" dt="2026-01-29T16:22:28.972" v="535" actId="1076"/>
          <ac:spMkLst>
            <pc:docMk/>
            <pc:sldMk cId="3335407237" sldId="269"/>
            <ac:spMk id="3" creationId="{FFA7D316-C12E-1F56-B363-C7DBEB4750AD}"/>
          </ac:spMkLst>
        </pc:spChg>
        <pc:spChg chg="add">
          <ac:chgData name="Muthikella Srihari" userId="b06b8e4d5d6fd552" providerId="LiveId" clId="{EB7ED397-7888-414E-8B87-0A65F053BD15}" dt="2026-01-29T15:13:04.431" v="20"/>
          <ac:spMkLst>
            <pc:docMk/>
            <pc:sldMk cId="3335407237" sldId="269"/>
            <ac:spMk id="4" creationId="{758DB221-3F6D-BA47-9A49-F0D2AFD8D979}"/>
          </ac:spMkLst>
        </pc:spChg>
        <pc:picChg chg="add mod modCrop">
          <ac:chgData name="Muthikella Srihari" userId="b06b8e4d5d6fd552" providerId="LiveId" clId="{EB7ED397-7888-414E-8B87-0A65F053BD15}" dt="2026-01-29T15:18:13.283" v="69" actId="1076"/>
          <ac:picMkLst>
            <pc:docMk/>
            <pc:sldMk cId="3335407237" sldId="269"/>
            <ac:picMk id="5" creationId="{86C56D83-2F3B-5590-0286-AE7893107040}"/>
          </ac:picMkLst>
        </pc:picChg>
      </pc:sldChg>
      <pc:sldChg chg="delSp modSp del mod">
        <pc:chgData name="Muthikella Srihari" userId="b06b8e4d5d6fd552" providerId="LiveId" clId="{EB7ED397-7888-414E-8B87-0A65F053BD15}" dt="2026-01-29T15:11:20.041" v="7" actId="47"/>
        <pc:sldMkLst>
          <pc:docMk/>
          <pc:sldMk cId="3747853414" sldId="270"/>
        </pc:sldMkLst>
        <pc:spChg chg="del mod">
          <ac:chgData name="Muthikella Srihari" userId="b06b8e4d5d6fd552" providerId="LiveId" clId="{EB7ED397-7888-414E-8B87-0A65F053BD15}" dt="2026-01-29T15:11:17.940" v="6"/>
          <ac:spMkLst>
            <pc:docMk/>
            <pc:sldMk cId="3747853414" sldId="270"/>
            <ac:spMk id="3" creationId="{83B041F7-B734-95D8-64D2-63E2AB2FBC7A}"/>
          </ac:spMkLst>
        </pc:spChg>
      </pc:sldChg>
      <pc:sldChg chg="modSp mod">
        <pc:chgData name="Muthikella Srihari" userId="b06b8e4d5d6fd552" providerId="LiveId" clId="{EB7ED397-7888-414E-8B87-0A65F053BD15}" dt="2026-01-29T16:22:42.070" v="536" actId="1076"/>
        <pc:sldMkLst>
          <pc:docMk/>
          <pc:sldMk cId="1009141861" sldId="271"/>
        </pc:sldMkLst>
        <pc:spChg chg="mod">
          <ac:chgData name="Muthikella Srihari" userId="b06b8e4d5d6fd552" providerId="LiveId" clId="{EB7ED397-7888-414E-8B87-0A65F053BD15}" dt="2026-01-29T16:22:42.070" v="536" actId="1076"/>
          <ac:spMkLst>
            <pc:docMk/>
            <pc:sldMk cId="1009141861" sldId="271"/>
            <ac:spMk id="5" creationId="{901AE73C-E6EC-CE34-0229-178FCBF64DE8}"/>
          </ac:spMkLst>
        </pc:spChg>
      </pc:sldChg>
      <pc:sldChg chg="modSp mod">
        <pc:chgData name="Muthikella Srihari" userId="b06b8e4d5d6fd552" providerId="LiveId" clId="{EB7ED397-7888-414E-8B87-0A65F053BD15}" dt="2026-01-29T16:10:04.959" v="464" actId="12"/>
        <pc:sldMkLst>
          <pc:docMk/>
          <pc:sldMk cId="1586822623" sldId="272"/>
        </pc:sldMkLst>
        <pc:spChg chg="mod">
          <ac:chgData name="Muthikella Srihari" userId="b06b8e4d5d6fd552" providerId="LiveId" clId="{EB7ED397-7888-414E-8B87-0A65F053BD15}" dt="2026-01-29T16:10:04.959" v="464" actId="12"/>
          <ac:spMkLst>
            <pc:docMk/>
            <pc:sldMk cId="1586822623" sldId="272"/>
            <ac:spMk id="3" creationId="{5C02E4A9-817F-B8B2-7902-2B557D8EDD27}"/>
          </ac:spMkLst>
        </pc:spChg>
      </pc:sldChg>
      <pc:sldChg chg="addSp modSp new mod">
        <pc:chgData name="Muthikella Srihari" userId="b06b8e4d5d6fd552" providerId="LiveId" clId="{EB7ED397-7888-414E-8B87-0A65F053BD15}" dt="2026-01-29T16:09:49.050" v="460" actId="12"/>
        <pc:sldMkLst>
          <pc:docMk/>
          <pc:sldMk cId="3115216168" sldId="273"/>
        </pc:sldMkLst>
        <pc:spChg chg="add mod">
          <ac:chgData name="Muthikella Srihari" userId="b06b8e4d5d6fd552" providerId="LiveId" clId="{EB7ED397-7888-414E-8B87-0A65F053BD15}" dt="2026-01-29T16:09:49.050" v="460" actId="12"/>
          <ac:spMkLst>
            <pc:docMk/>
            <pc:sldMk cId="3115216168" sldId="273"/>
            <ac:spMk id="3" creationId="{8CF8D956-5D9A-D5AD-F8EE-20AB91E71238}"/>
          </ac:spMkLst>
        </pc:spChg>
      </pc:sldChg>
      <pc:sldChg chg="addSp modSp new mod">
        <pc:chgData name="Muthikella Srihari" userId="b06b8e4d5d6fd552" providerId="LiveId" clId="{EB7ED397-7888-414E-8B87-0A65F053BD15}" dt="2026-01-29T16:23:02.216" v="537" actId="1076"/>
        <pc:sldMkLst>
          <pc:docMk/>
          <pc:sldMk cId="2865517961" sldId="274"/>
        </pc:sldMkLst>
        <pc:spChg chg="add mod">
          <ac:chgData name="Muthikella Srihari" userId="b06b8e4d5d6fd552" providerId="LiveId" clId="{EB7ED397-7888-414E-8B87-0A65F053BD15}" dt="2026-01-29T16:11:46.015" v="479" actId="207"/>
          <ac:spMkLst>
            <pc:docMk/>
            <pc:sldMk cId="2865517961" sldId="274"/>
            <ac:spMk id="3" creationId="{218F53A0-5953-A167-DFE6-BB20C17756AB}"/>
          </ac:spMkLst>
        </pc:spChg>
        <pc:spChg chg="add mod">
          <ac:chgData name="Muthikella Srihari" userId="b06b8e4d5d6fd552" providerId="LiveId" clId="{EB7ED397-7888-414E-8B87-0A65F053BD15}" dt="2026-01-29T16:23:02.216" v="537" actId="1076"/>
          <ac:spMkLst>
            <pc:docMk/>
            <pc:sldMk cId="2865517961" sldId="274"/>
            <ac:spMk id="6" creationId="{38149675-F074-7020-B4CA-B47D6F009DD7}"/>
          </ac:spMkLst>
        </pc:spChg>
        <pc:picChg chg="add mod">
          <ac:chgData name="Muthikella Srihari" userId="b06b8e4d5d6fd552" providerId="LiveId" clId="{EB7ED397-7888-414E-8B87-0A65F053BD15}" dt="2026-01-29T16:11:24.768" v="477" actId="1076"/>
          <ac:picMkLst>
            <pc:docMk/>
            <pc:sldMk cId="2865517961" sldId="274"/>
            <ac:picMk id="4" creationId="{65D2C023-4F9C-ADBC-0508-2E6B0908B378}"/>
          </ac:picMkLst>
        </pc:picChg>
      </pc:sldChg>
      <pc:sldChg chg="addSp modSp new mod">
        <pc:chgData name="Muthikella Srihari" userId="b06b8e4d5d6fd552" providerId="LiveId" clId="{EB7ED397-7888-414E-8B87-0A65F053BD15}" dt="2026-01-29T16:12:09.078" v="481" actId="207"/>
        <pc:sldMkLst>
          <pc:docMk/>
          <pc:sldMk cId="1207960027" sldId="275"/>
        </pc:sldMkLst>
        <pc:spChg chg="add mod">
          <ac:chgData name="Muthikella Srihari" userId="b06b8e4d5d6fd552" providerId="LiveId" clId="{EB7ED397-7888-414E-8B87-0A65F053BD15}" dt="2026-01-29T16:12:04.873" v="480" actId="207"/>
          <ac:spMkLst>
            <pc:docMk/>
            <pc:sldMk cId="1207960027" sldId="275"/>
            <ac:spMk id="3" creationId="{DCAD204B-B002-7D97-E070-0F7414677F8E}"/>
          </ac:spMkLst>
        </pc:spChg>
        <pc:spChg chg="add mod">
          <ac:chgData name="Muthikella Srihari" userId="b06b8e4d5d6fd552" providerId="LiveId" clId="{EB7ED397-7888-414E-8B87-0A65F053BD15}" dt="2026-01-29T16:12:09.078" v="481" actId="207"/>
          <ac:spMkLst>
            <pc:docMk/>
            <pc:sldMk cId="1207960027" sldId="275"/>
            <ac:spMk id="7" creationId="{8D848966-15F3-E452-AD60-A2F541AFCB24}"/>
          </ac:spMkLst>
        </pc:spChg>
        <pc:picChg chg="add mod">
          <ac:chgData name="Muthikella Srihari" userId="b06b8e4d5d6fd552" providerId="LiveId" clId="{EB7ED397-7888-414E-8B87-0A65F053BD15}" dt="2026-01-29T15:46:08.923" v="258" actId="1440"/>
          <ac:picMkLst>
            <pc:docMk/>
            <pc:sldMk cId="1207960027" sldId="275"/>
            <ac:picMk id="4" creationId="{E349885D-1F46-663D-8ED6-5A09283FE5C9}"/>
          </ac:picMkLst>
        </pc:picChg>
        <pc:picChg chg="add mod">
          <ac:chgData name="Muthikella Srihari" userId="b06b8e4d5d6fd552" providerId="LiveId" clId="{EB7ED397-7888-414E-8B87-0A65F053BD15}" dt="2026-01-29T15:48:06.119" v="282" actId="1076"/>
          <ac:picMkLst>
            <pc:docMk/>
            <pc:sldMk cId="1207960027" sldId="275"/>
            <ac:picMk id="5" creationId="{DDEDB834-9434-FB97-08EB-88DA37ADF383}"/>
          </ac:picMkLst>
        </pc:picChg>
      </pc:sldChg>
      <pc:sldChg chg="addSp modSp new mod">
        <pc:chgData name="Muthikella Srihari" userId="b06b8e4d5d6fd552" providerId="LiveId" clId="{EB7ED397-7888-414E-8B87-0A65F053BD15}" dt="2026-01-29T16:12:27.976" v="484" actId="207"/>
        <pc:sldMkLst>
          <pc:docMk/>
          <pc:sldMk cId="3367054573" sldId="276"/>
        </pc:sldMkLst>
        <pc:spChg chg="add mod">
          <ac:chgData name="Muthikella Srihari" userId="b06b8e4d5d6fd552" providerId="LiveId" clId="{EB7ED397-7888-414E-8B87-0A65F053BD15}" dt="2026-01-29T16:12:22.212" v="483" actId="122"/>
          <ac:spMkLst>
            <pc:docMk/>
            <pc:sldMk cId="3367054573" sldId="276"/>
            <ac:spMk id="3" creationId="{7C47D9D9-F45E-177D-9D32-2726C15BAA96}"/>
          </ac:spMkLst>
        </pc:spChg>
        <pc:spChg chg="add mod">
          <ac:chgData name="Muthikella Srihari" userId="b06b8e4d5d6fd552" providerId="LiveId" clId="{EB7ED397-7888-414E-8B87-0A65F053BD15}" dt="2026-01-29T16:12:27.976" v="484" actId="207"/>
          <ac:spMkLst>
            <pc:docMk/>
            <pc:sldMk cId="3367054573" sldId="276"/>
            <ac:spMk id="7" creationId="{ADA6B471-DF13-71BC-2B80-C7A70092DF92}"/>
          </ac:spMkLst>
        </pc:spChg>
        <pc:picChg chg="add mod">
          <ac:chgData name="Muthikella Srihari" userId="b06b8e4d5d6fd552" providerId="LiveId" clId="{EB7ED397-7888-414E-8B87-0A65F053BD15}" dt="2026-01-29T15:44:40.852" v="251" actId="1440"/>
          <ac:picMkLst>
            <pc:docMk/>
            <pc:sldMk cId="3367054573" sldId="276"/>
            <ac:picMk id="4" creationId="{7A058AD7-4470-0E88-39B6-393BEA9378B1}"/>
          </ac:picMkLst>
        </pc:picChg>
        <pc:picChg chg="add mod">
          <ac:chgData name="Muthikella Srihari" userId="b06b8e4d5d6fd552" providerId="LiveId" clId="{EB7ED397-7888-414E-8B87-0A65F053BD15}" dt="2026-01-29T15:46:58.123" v="268" actId="1076"/>
          <ac:picMkLst>
            <pc:docMk/>
            <pc:sldMk cId="3367054573" sldId="276"/>
            <ac:picMk id="5" creationId="{38DBF8B3-2C7E-F2C4-584B-7BA0CFB65DBA}"/>
          </ac:picMkLst>
        </pc:picChg>
      </pc:sldChg>
      <pc:sldChg chg="addSp modSp new mod modAnim modShow">
        <pc:chgData name="Muthikella Srihari" userId="b06b8e4d5d6fd552" providerId="LiveId" clId="{EB7ED397-7888-414E-8B87-0A65F053BD15}" dt="2026-01-29T16:12:43.739" v="486" actId="207"/>
        <pc:sldMkLst>
          <pc:docMk/>
          <pc:sldMk cId="2931979451" sldId="277"/>
        </pc:sldMkLst>
        <pc:spChg chg="add mod">
          <ac:chgData name="Muthikella Srihari" userId="b06b8e4d5d6fd552" providerId="LiveId" clId="{EB7ED397-7888-414E-8B87-0A65F053BD15}" dt="2026-01-29T16:12:38.763" v="485" actId="207"/>
          <ac:spMkLst>
            <pc:docMk/>
            <pc:sldMk cId="2931979451" sldId="277"/>
            <ac:spMk id="3" creationId="{770AF04C-7F6C-A947-D838-B24D5F4EF3E7}"/>
          </ac:spMkLst>
        </pc:spChg>
        <pc:spChg chg="add mod">
          <ac:chgData name="Muthikella Srihari" userId="b06b8e4d5d6fd552" providerId="LiveId" clId="{EB7ED397-7888-414E-8B87-0A65F053BD15}" dt="2026-01-29T16:12:43.739" v="486" actId="207"/>
          <ac:spMkLst>
            <pc:docMk/>
            <pc:sldMk cId="2931979451" sldId="277"/>
            <ac:spMk id="6" creationId="{A01C9248-F6B5-E7AE-F080-F64296664AFD}"/>
          </ac:spMkLst>
        </pc:spChg>
        <pc:picChg chg="add mod">
          <ac:chgData name="Muthikella Srihari" userId="b06b8e4d5d6fd552" providerId="LiveId" clId="{EB7ED397-7888-414E-8B87-0A65F053BD15}" dt="2026-01-29T15:44:24.022" v="250" actId="1440"/>
          <ac:picMkLst>
            <pc:docMk/>
            <pc:sldMk cId="2931979451" sldId="277"/>
            <ac:picMk id="4" creationId="{6080BB46-623B-2B21-752E-E9A7D36E5C7B}"/>
          </ac:picMkLst>
        </pc:picChg>
        <pc:picChg chg="add mod">
          <ac:chgData name="Muthikella Srihari" userId="b06b8e4d5d6fd552" providerId="LiveId" clId="{EB7ED397-7888-414E-8B87-0A65F053BD15}" dt="2026-01-29T15:43:58.716" v="246" actId="1440"/>
          <ac:picMkLst>
            <pc:docMk/>
            <pc:sldMk cId="2931979451" sldId="277"/>
            <ac:picMk id="7" creationId="{B12E3F3A-78A7-72EC-E066-9E6BD2CF9C1E}"/>
          </ac:picMkLst>
        </pc:picChg>
      </pc:sldChg>
      <pc:sldChg chg="addSp delSp modSp new del mod">
        <pc:chgData name="Muthikella Srihari" userId="b06b8e4d5d6fd552" providerId="LiveId" clId="{EB7ED397-7888-414E-8B87-0A65F053BD15}" dt="2026-01-29T15:53:06.689" v="312" actId="47"/>
        <pc:sldMkLst>
          <pc:docMk/>
          <pc:sldMk cId="847697213" sldId="278"/>
        </pc:sldMkLst>
        <pc:spChg chg="add del mod">
          <ac:chgData name="Muthikella Srihari" userId="b06b8e4d5d6fd552" providerId="LiveId" clId="{EB7ED397-7888-414E-8B87-0A65F053BD15}" dt="2026-01-29T15:53:06.038" v="311"/>
          <ac:spMkLst>
            <pc:docMk/>
            <pc:sldMk cId="847697213" sldId="278"/>
            <ac:spMk id="3" creationId="{862E4F1C-8418-3294-A6EC-9FD6BA25D2FE}"/>
          </ac:spMkLst>
        </pc:spChg>
      </pc:sldChg>
      <pc:sldChg chg="addSp modSp new mod">
        <pc:chgData name="Muthikella Srihari" userId="b06b8e4d5d6fd552" providerId="LiveId" clId="{EB7ED397-7888-414E-8B87-0A65F053BD15}" dt="2026-01-29T16:13:27.334" v="494" actId="14100"/>
        <pc:sldMkLst>
          <pc:docMk/>
          <pc:sldMk cId="1951463159" sldId="278"/>
        </pc:sldMkLst>
        <pc:spChg chg="add mod">
          <ac:chgData name="Muthikella Srihari" userId="b06b8e4d5d6fd552" providerId="LiveId" clId="{EB7ED397-7888-414E-8B87-0A65F053BD15}" dt="2026-01-29T16:13:27.334" v="494" actId="14100"/>
          <ac:spMkLst>
            <pc:docMk/>
            <pc:sldMk cId="1951463159" sldId="278"/>
            <ac:spMk id="3" creationId="{24113EF9-987F-D323-1F04-38D426E32175}"/>
          </ac:spMkLst>
        </pc:spChg>
      </pc:sldChg>
      <pc:sldChg chg="addSp modSp new mod">
        <pc:chgData name="Muthikella Srihari" userId="b06b8e4d5d6fd552" providerId="LiveId" clId="{EB7ED397-7888-414E-8B87-0A65F053BD15}" dt="2026-01-29T16:14:40.815" v="500" actId="12"/>
        <pc:sldMkLst>
          <pc:docMk/>
          <pc:sldMk cId="1854426135" sldId="279"/>
        </pc:sldMkLst>
        <pc:spChg chg="add mod">
          <ac:chgData name="Muthikella Srihari" userId="b06b8e4d5d6fd552" providerId="LiveId" clId="{EB7ED397-7888-414E-8B87-0A65F053BD15}" dt="2026-01-29T16:14:40.815" v="500" actId="12"/>
          <ac:spMkLst>
            <pc:docMk/>
            <pc:sldMk cId="1854426135" sldId="279"/>
            <ac:spMk id="3" creationId="{DDCF35F4-200B-22B3-3418-F3FD0E8103C6}"/>
          </ac:spMkLst>
        </pc:spChg>
      </pc:sldChg>
      <pc:sldChg chg="addSp modSp new mod">
        <pc:chgData name="Muthikella Srihari" userId="b06b8e4d5d6fd552" providerId="LiveId" clId="{EB7ED397-7888-414E-8B87-0A65F053BD15}" dt="2026-01-29T16:15:00.931" v="503" actId="20577"/>
        <pc:sldMkLst>
          <pc:docMk/>
          <pc:sldMk cId="2751074680" sldId="280"/>
        </pc:sldMkLst>
        <pc:spChg chg="add mod">
          <ac:chgData name="Muthikella Srihari" userId="b06b8e4d5d6fd552" providerId="LiveId" clId="{EB7ED397-7888-414E-8B87-0A65F053BD15}" dt="2026-01-29T16:15:00.931" v="503" actId="20577"/>
          <ac:spMkLst>
            <pc:docMk/>
            <pc:sldMk cId="2751074680" sldId="280"/>
            <ac:spMk id="3" creationId="{039BD358-41E5-2078-30A1-17994483A959}"/>
          </ac:spMkLst>
        </pc:spChg>
      </pc:sldChg>
      <pc:sldChg chg="addSp modSp new mod">
        <pc:chgData name="Muthikella Srihari" userId="b06b8e4d5d6fd552" providerId="LiveId" clId="{EB7ED397-7888-414E-8B87-0A65F053BD15}" dt="2026-01-29T16:15:13.399" v="505" actId="207"/>
        <pc:sldMkLst>
          <pc:docMk/>
          <pc:sldMk cId="1231396460" sldId="281"/>
        </pc:sldMkLst>
        <pc:spChg chg="add mod">
          <ac:chgData name="Muthikella Srihari" userId="b06b8e4d5d6fd552" providerId="LiveId" clId="{EB7ED397-7888-414E-8B87-0A65F053BD15}" dt="2026-01-29T16:15:13.399" v="505" actId="207"/>
          <ac:spMkLst>
            <pc:docMk/>
            <pc:sldMk cId="1231396460" sldId="281"/>
            <ac:spMk id="3" creationId="{9345F20A-1A82-80BD-1898-54181643A987}"/>
          </ac:spMkLst>
        </pc:spChg>
      </pc:sldChg>
      <pc:sldChg chg="addSp modSp new mod">
        <pc:chgData name="Muthikella Srihari" userId="b06b8e4d5d6fd552" providerId="LiveId" clId="{EB7ED397-7888-414E-8B87-0A65F053BD15}" dt="2026-01-29T16:19:21.199" v="523" actId="1440"/>
        <pc:sldMkLst>
          <pc:docMk/>
          <pc:sldMk cId="2117111104" sldId="282"/>
        </pc:sldMkLst>
        <pc:spChg chg="add">
          <ac:chgData name="Muthikella Srihari" userId="b06b8e4d5d6fd552" providerId="LiveId" clId="{EB7ED397-7888-414E-8B87-0A65F053BD15}" dt="2026-01-29T16:16:41.547" v="507"/>
          <ac:spMkLst>
            <pc:docMk/>
            <pc:sldMk cId="2117111104" sldId="282"/>
            <ac:spMk id="2" creationId="{A01523CD-B681-AA05-0B56-FB571CC70E78}"/>
          </ac:spMkLst>
        </pc:spChg>
        <pc:picChg chg="add mod modCrop">
          <ac:chgData name="Muthikella Srihari" userId="b06b8e4d5d6fd552" providerId="LiveId" clId="{EB7ED397-7888-414E-8B87-0A65F053BD15}" dt="2026-01-29T16:19:21.199" v="523" actId="1440"/>
          <ac:picMkLst>
            <pc:docMk/>
            <pc:sldMk cId="2117111104" sldId="282"/>
            <ac:picMk id="3" creationId="{385EB830-B26C-FF09-BF9E-D681A0E541CA}"/>
          </ac:picMkLst>
        </pc:picChg>
      </pc:sldChg>
      <pc:sldMasterChg chg="setBg">
        <pc:chgData name="Muthikella Srihari" userId="b06b8e4d5d6fd552" providerId="LiveId" clId="{EB7ED397-7888-414E-8B87-0A65F053BD15}" dt="2026-01-29T15:40:42.426" v="229"/>
        <pc:sldMasterMkLst>
          <pc:docMk/>
          <pc:sldMasterMk cId="1989944936" sldId="2147483660"/>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5330" name="Rectangle 2">
            <a:extLst>
              <a:ext uri="{FF2B5EF4-FFF2-40B4-BE49-F238E27FC236}">
                <a16:creationId xmlns:a16="http://schemas.microsoft.com/office/drawing/2014/main" id="{18C13B0D-09F5-581D-EC40-EDB9E46355DA}"/>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355331" name="Rectangle 3">
            <a:extLst>
              <a:ext uri="{FF2B5EF4-FFF2-40B4-BE49-F238E27FC236}">
                <a16:creationId xmlns:a16="http://schemas.microsoft.com/office/drawing/2014/main" id="{E35BAA48-474C-86E0-F492-292E85E1ACAF}"/>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355332" name="Rectangle 4">
            <a:extLst>
              <a:ext uri="{FF2B5EF4-FFF2-40B4-BE49-F238E27FC236}">
                <a16:creationId xmlns:a16="http://schemas.microsoft.com/office/drawing/2014/main" id="{2C26FF88-868B-A326-60C7-3AAA000C02D1}"/>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55333" name="Rectangle 5">
            <a:extLst>
              <a:ext uri="{FF2B5EF4-FFF2-40B4-BE49-F238E27FC236}">
                <a16:creationId xmlns:a16="http://schemas.microsoft.com/office/drawing/2014/main" id="{265BD9B1-F794-9304-4996-64E05B3E190D}"/>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55334" name="Rectangle 6">
            <a:extLst>
              <a:ext uri="{FF2B5EF4-FFF2-40B4-BE49-F238E27FC236}">
                <a16:creationId xmlns:a16="http://schemas.microsoft.com/office/drawing/2014/main" id="{08E8E15C-DBC7-72D5-D98D-A91D45295281}"/>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355335" name="Rectangle 7">
            <a:extLst>
              <a:ext uri="{FF2B5EF4-FFF2-40B4-BE49-F238E27FC236}">
                <a16:creationId xmlns:a16="http://schemas.microsoft.com/office/drawing/2014/main" id="{B36948C7-D6EA-85F9-BBD2-7327F2736D04}"/>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A2303C36-B0E5-4B44-BC2C-144FC8C34F04}"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C7BC25C-0081-0A99-6CD5-27B81B8359A3}"/>
              </a:ext>
            </a:extLst>
          </p:cNvPr>
          <p:cNvSpPr>
            <a:spLocks noGrp="1" noChangeArrowheads="1"/>
          </p:cNvSpPr>
          <p:nvPr>
            <p:ph type="sldNum" sz="quarter" idx="5"/>
          </p:nvPr>
        </p:nvSpPr>
        <p:spPr>
          <a:ln/>
        </p:spPr>
        <p:txBody>
          <a:bodyPr/>
          <a:lstStyle/>
          <a:p>
            <a:fld id="{13273D0F-E8D2-4CFA-A02D-99878401823E}" type="slidenum">
              <a:rPr lang="en-US" altLang="en-US"/>
              <a:pPr/>
              <a:t>3</a:t>
            </a:fld>
            <a:endParaRPr lang="en-US" altLang="en-US"/>
          </a:p>
        </p:txBody>
      </p:sp>
      <p:sp>
        <p:nvSpPr>
          <p:cNvPr id="357378" name="Rectangle 2">
            <a:extLst>
              <a:ext uri="{FF2B5EF4-FFF2-40B4-BE49-F238E27FC236}">
                <a16:creationId xmlns:a16="http://schemas.microsoft.com/office/drawing/2014/main" id="{E1AB2442-B7C6-A3F8-5ABC-53D31714E21C}"/>
              </a:ext>
            </a:extLst>
          </p:cNvPr>
          <p:cNvSpPr>
            <a:spLocks noGrp="1" noRot="1" noChangeAspect="1" noChangeArrowheads="1" noTextEdit="1"/>
          </p:cNvSpPr>
          <p:nvPr>
            <p:ph type="sldImg"/>
          </p:nvPr>
        </p:nvSpPr>
        <p:spPr>
          <a:ln/>
        </p:spPr>
      </p:sp>
      <p:sp>
        <p:nvSpPr>
          <p:cNvPr id="357379" name="Rectangle 3">
            <a:extLst>
              <a:ext uri="{FF2B5EF4-FFF2-40B4-BE49-F238E27FC236}">
                <a16:creationId xmlns:a16="http://schemas.microsoft.com/office/drawing/2014/main" id="{58298787-3B84-FEDD-FFD0-6A63ED13ECC5}"/>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48A87A34-81AB-432B-8DAE-1953F412C126}" type="datetimeFigureOut">
              <a:rPr lang="en-US" smtClean="0"/>
              <a:t>3/16/2026</a:t>
            </a:fld>
            <a:endParaRPr lang="en-US" dirty="0"/>
          </a:p>
        </p:txBody>
      </p:sp>
      <p:sp>
        <p:nvSpPr>
          <p:cNvPr id="5" name="Footer Placeholder 4"/>
          <p:cNvSpPr>
            <a:spLocks noGrp="1"/>
          </p:cNvSpPr>
          <p:nvPr>
            <p:ph type="ftr" sz="quarter" idx="11"/>
          </p:nvPr>
        </p:nvSpPr>
        <p:spPr>
          <a:xfrm>
            <a:off x="914400" y="4323846"/>
            <a:ext cx="4880610" cy="365125"/>
          </a:xfrm>
        </p:spPr>
        <p:txBody>
          <a:bodyPr/>
          <a:lstStyle/>
          <a:p>
            <a:endParaRPr lang="en-US" dirty="0"/>
          </a:p>
        </p:txBody>
      </p:sp>
      <p:sp>
        <p:nvSpPr>
          <p:cNvPr id="6" name="Slide Number Placeholder 5"/>
          <p:cNvSpPr>
            <a:spLocks noGrp="1"/>
          </p:cNvSpPr>
          <p:nvPr>
            <p:ph type="sldNum" sz="quarter" idx="12"/>
          </p:nvPr>
        </p:nvSpPr>
        <p:spPr>
          <a:xfrm>
            <a:off x="6057900" y="1430867"/>
            <a:ext cx="2171700"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19012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0044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48A87A34-81AB-432B-8DAE-1953F412C126}" type="datetimeFigureOut">
              <a:rPr lang="en-US" smtClean="0"/>
              <a:pPr/>
              <a:t>3/16/2026</a:t>
            </a:fld>
            <a:endParaRPr lang="en-US" dirty="0"/>
          </a:p>
        </p:txBody>
      </p:sp>
      <p:sp>
        <p:nvSpPr>
          <p:cNvPr id="5" name="Footer Placeholder 4"/>
          <p:cNvSpPr>
            <a:spLocks noGrp="1"/>
          </p:cNvSpPr>
          <p:nvPr>
            <p:ph type="ftr" sz="quarter" idx="11"/>
          </p:nvPr>
        </p:nvSpPr>
        <p:spPr>
          <a:xfrm>
            <a:off x="594360" y="381001"/>
            <a:ext cx="4830656" cy="365125"/>
          </a:xfrm>
        </p:spPr>
        <p:txBody>
          <a:bodyPr/>
          <a:lstStyle/>
          <a:p>
            <a:endParaRPr lang="en-US" dirty="0"/>
          </a:p>
        </p:txBody>
      </p:sp>
      <p:sp>
        <p:nvSpPr>
          <p:cNvPr id="6" name="Slide Number Placeholder 5"/>
          <p:cNvSpPr>
            <a:spLocks noGrp="1"/>
          </p:cNvSpPr>
          <p:nvPr>
            <p:ph type="sldNum" sz="quarter" idx="12"/>
          </p:nvPr>
        </p:nvSpPr>
        <p:spPr>
          <a:xfrm>
            <a:off x="7882466" y="381001"/>
            <a:ext cx="667173"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47870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15616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3/16/2026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26653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3/16/2026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50657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3/16/2026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51190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69216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10945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90091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48A87A34-81AB-432B-8DAE-1953F412C126}" type="datetimeFigureOut">
              <a:rPr lang="en-US" smtClean="0"/>
              <a:pPr/>
              <a:t>3/16/2026</a:t>
            </a:fld>
            <a:endParaRPr lang="en-US" dirty="0"/>
          </a:p>
        </p:txBody>
      </p:sp>
      <p:sp>
        <p:nvSpPr>
          <p:cNvPr id="6" name="Footer Placeholder 5"/>
          <p:cNvSpPr>
            <a:spLocks noGrp="1"/>
          </p:cNvSpPr>
          <p:nvPr>
            <p:ph type="ftr" sz="quarter" idx="11"/>
          </p:nvPr>
        </p:nvSpPr>
        <p:spPr>
          <a:xfrm>
            <a:off x="594360" y="381001"/>
            <a:ext cx="4830656" cy="365125"/>
          </a:xfrm>
        </p:spPr>
        <p:txBody>
          <a:bodyPr/>
          <a:lstStyle/>
          <a:p>
            <a:endParaRPr lang="en-US" dirty="0"/>
          </a:p>
        </p:txBody>
      </p:sp>
      <p:sp>
        <p:nvSpPr>
          <p:cNvPr id="7" name="Slide Number Placeholder 6"/>
          <p:cNvSpPr>
            <a:spLocks noGrp="1"/>
          </p:cNvSpPr>
          <p:nvPr>
            <p:ph type="sldNum" sz="quarter" idx="12"/>
          </p:nvPr>
        </p:nvSpPr>
        <p:spPr>
          <a:xfrm>
            <a:off x="7882466" y="381001"/>
            <a:ext cx="667174"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390421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5" name="Picture 14"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48A87A34-81AB-432B-8DAE-1953F412C126}" type="datetimeFigureOut">
              <a:rPr lang="en-US" smtClean="0"/>
              <a:pPr/>
              <a:t>3/16/2026</a:t>
            </a:fld>
            <a:endParaRPr lang="en-US" dirty="0"/>
          </a:p>
        </p:txBody>
      </p:sp>
      <p:sp>
        <p:nvSpPr>
          <p:cNvPr id="6" name="Footer Placeholder 5"/>
          <p:cNvSpPr>
            <a:spLocks noGrp="1"/>
          </p:cNvSpPr>
          <p:nvPr>
            <p:ph type="ftr" sz="quarter" idx="11"/>
          </p:nvPr>
        </p:nvSpPr>
        <p:spPr>
          <a:xfrm>
            <a:off x="594360" y="379438"/>
            <a:ext cx="4830656" cy="365125"/>
          </a:xfrm>
        </p:spPr>
        <p:txBody>
          <a:bodyPr/>
          <a:lstStyle/>
          <a:p>
            <a:endParaRPr lang="en-US" dirty="0"/>
          </a:p>
        </p:txBody>
      </p:sp>
      <p:sp>
        <p:nvSpPr>
          <p:cNvPr id="7" name="Slide Number Placeholder 6"/>
          <p:cNvSpPr>
            <a:spLocks noGrp="1"/>
          </p:cNvSpPr>
          <p:nvPr>
            <p:ph type="sldNum" sz="quarter" idx="12"/>
          </p:nvPr>
        </p:nvSpPr>
        <p:spPr>
          <a:xfrm>
            <a:off x="7882466" y="381001"/>
            <a:ext cx="667174" cy="365125"/>
          </a:xfrm>
        </p:spPr>
        <p:txBody>
          <a:bodyPr/>
          <a:lstStyle/>
          <a:p>
            <a:fld id="{6D22F896-40B5-4ADD-8801-0D06FADFA095}" type="slidenum">
              <a:rPr lang="en-US" smtClean="0"/>
              <a:t>‹#›</a:t>
            </a:fld>
            <a:endParaRPr lang="en-US" dirty="0"/>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075270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48A87A34-81AB-432B-8DAE-1953F412C126}" type="datetimeFigureOut">
              <a:rPr lang="en-US" smtClean="0"/>
              <a:pPr/>
              <a:t>3/16/2026</a:t>
            </a:fld>
            <a:endParaRPr lang="en-US" dirty="0"/>
          </a:p>
        </p:txBody>
      </p:sp>
      <p:sp>
        <p:nvSpPr>
          <p:cNvPr id="6" name="Footer Placeholder 5"/>
          <p:cNvSpPr>
            <a:spLocks noGrp="1"/>
          </p:cNvSpPr>
          <p:nvPr>
            <p:ph type="ftr" sz="quarter" idx="11"/>
          </p:nvPr>
        </p:nvSpPr>
        <p:spPr>
          <a:xfrm>
            <a:off x="594360" y="378884"/>
            <a:ext cx="4830656" cy="365125"/>
          </a:xfrm>
        </p:spPr>
        <p:txBody>
          <a:bodyPr/>
          <a:lstStyle/>
          <a:p>
            <a:endParaRPr lang="en-US" dirty="0"/>
          </a:p>
        </p:txBody>
      </p:sp>
      <p:sp>
        <p:nvSpPr>
          <p:cNvPr id="7" name="Slide Number Placeholder 6"/>
          <p:cNvSpPr>
            <a:spLocks noGrp="1"/>
          </p:cNvSpPr>
          <p:nvPr>
            <p:ph type="sldNum" sz="quarter" idx="12"/>
          </p:nvPr>
        </p:nvSpPr>
        <p:spPr>
          <a:xfrm>
            <a:off x="7882466" y="381001"/>
            <a:ext cx="667174"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772804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3/16/2026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797661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3/16/2026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761496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428060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48A87A34-81AB-432B-8DAE-1953F412C126}" type="datetimeFigureOut">
              <a:rPr lang="en-US" smtClean="0"/>
              <a:pPr/>
              <a:t>3/16/2026</a:t>
            </a:fld>
            <a:endParaRPr lang="en-US" dirty="0"/>
          </a:p>
        </p:txBody>
      </p:sp>
      <p:sp>
        <p:nvSpPr>
          <p:cNvPr id="5" name="Footer Placeholder 4"/>
          <p:cNvSpPr>
            <a:spLocks noGrp="1"/>
          </p:cNvSpPr>
          <p:nvPr>
            <p:ph type="ftr" sz="quarter" idx="11"/>
          </p:nvPr>
        </p:nvSpPr>
        <p:spPr>
          <a:xfrm>
            <a:off x="594360" y="381001"/>
            <a:ext cx="4830656" cy="365125"/>
          </a:xfrm>
        </p:spPr>
        <p:txBody>
          <a:bodyPr/>
          <a:lstStyle/>
          <a:p>
            <a:endParaRPr lang="en-US" dirty="0"/>
          </a:p>
        </p:txBody>
      </p:sp>
      <p:sp>
        <p:nvSpPr>
          <p:cNvPr id="6" name="Slide Number Placeholder 5"/>
          <p:cNvSpPr>
            <a:spLocks noGrp="1"/>
          </p:cNvSpPr>
          <p:nvPr>
            <p:ph type="sldNum" sz="quarter" idx="12"/>
          </p:nvPr>
        </p:nvSpPr>
        <p:spPr>
          <a:xfrm>
            <a:off x="7882466" y="381001"/>
            <a:ext cx="667174"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02105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1-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3/16/2026</a:t>
            </a:fld>
            <a:endParaRPr lang="en-US" dirty="0"/>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915741494"/>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904B58-D61A-04DC-B355-0C74E5661CAB}"/>
              </a:ext>
            </a:extLst>
          </p:cNvPr>
          <p:cNvSpPr txBox="1"/>
          <p:nvPr/>
        </p:nvSpPr>
        <p:spPr>
          <a:xfrm>
            <a:off x="251520" y="260648"/>
            <a:ext cx="8892480" cy="6863417"/>
          </a:xfrm>
          <a:prstGeom prst="rect">
            <a:avLst/>
          </a:prstGeom>
          <a:noFill/>
        </p:spPr>
        <p:txBody>
          <a:bodyPr wrap="square">
            <a:spAutoFit/>
          </a:bodyPr>
          <a:lstStyle/>
          <a:p>
            <a:pPr algn="ctr"/>
            <a:endParaRPr lang="en-IN" sz="2000" b="1" dirty="0">
              <a:latin typeface="Times New Roman" panose="02020603050405020304" pitchFamily="18" charset="0"/>
              <a:cs typeface="Times New Roman" panose="02020603050405020304" pitchFamily="18" charset="0"/>
            </a:endParaRPr>
          </a:p>
          <a:p>
            <a:pPr algn="ctr"/>
            <a:r>
              <a:rPr lang="en-IN" sz="2000" b="1" dirty="0">
                <a:solidFill>
                  <a:srgbClr val="00B050"/>
                </a:solidFill>
                <a:latin typeface="Times New Roman" panose="02020603050405020304" pitchFamily="18" charset="0"/>
                <a:cs typeface="Times New Roman" panose="02020603050405020304" pitchFamily="18" charset="0"/>
              </a:rPr>
              <a:t>Sri Venkateswara College of Engineering and Technology</a:t>
            </a:r>
          </a:p>
          <a:p>
            <a:pPr algn="ctr"/>
            <a:r>
              <a:rPr lang="en-IN" sz="2000" b="1" dirty="0">
                <a:solidFill>
                  <a:srgbClr val="00B050"/>
                </a:solidFill>
                <a:latin typeface="Times New Roman" panose="02020603050405020304" pitchFamily="18" charset="0"/>
                <a:cs typeface="Times New Roman" panose="02020603050405020304" pitchFamily="18" charset="0"/>
              </a:rPr>
              <a:t> (Autonomous)</a:t>
            </a:r>
          </a:p>
          <a:p>
            <a:pPr algn="ctr"/>
            <a:r>
              <a:rPr lang="en-US" sz="2000" b="1" dirty="0">
                <a:solidFill>
                  <a:srgbClr val="00B050"/>
                </a:solidFill>
                <a:effectLst/>
                <a:latin typeface="Times New Roman" panose="02020603050405020304" pitchFamily="18" charset="0"/>
                <a:ea typeface="Times New Roman" panose="02020603050405020304" pitchFamily="18" charset="0"/>
              </a:rPr>
              <a:t>R.V.S Nagar, Chittoor – 517 127. (A.P)</a:t>
            </a:r>
            <a:endParaRPr lang="en-IN" sz="2000" b="1" dirty="0">
              <a:solidFill>
                <a:srgbClr val="00B050"/>
              </a:solidFill>
              <a:latin typeface="Times New Roman" panose="02020603050405020304" pitchFamily="18" charset="0"/>
              <a:cs typeface="Times New Roman" panose="02020603050405020304" pitchFamily="18" charset="0"/>
            </a:endParaRPr>
          </a:p>
          <a:p>
            <a:pPr algn="ctr"/>
            <a:r>
              <a:rPr lang="en-IN" sz="1800" dirty="0" err="1">
                <a:latin typeface="Times New Roman" panose="02020603050405020304" pitchFamily="18" charset="0"/>
                <a:cs typeface="Times New Roman" panose="02020603050405020304" pitchFamily="18" charset="0"/>
              </a:rPr>
              <a:t>B.Tech</a:t>
            </a:r>
            <a:r>
              <a:rPr lang="en-IN" sz="1800" dirty="0">
                <a:latin typeface="Times New Roman" panose="02020603050405020304" pitchFamily="18" charset="0"/>
                <a:cs typeface="Times New Roman" panose="02020603050405020304" pitchFamily="18" charset="0"/>
              </a:rPr>
              <a:t> – Computer Science and Engineering (AI &amp; ML)</a:t>
            </a:r>
          </a:p>
          <a:p>
            <a:pPr algn="ctr"/>
            <a:r>
              <a:rPr lang="en-IN" sz="1800" dirty="0">
                <a:latin typeface="Times New Roman" panose="02020603050405020304" pitchFamily="18" charset="0"/>
                <a:cs typeface="Times New Roman" panose="02020603050405020304" pitchFamily="18" charset="0"/>
              </a:rPr>
              <a:t>Academic Year:2025 – 2026</a:t>
            </a:r>
            <a:br>
              <a:rPr lang="en-IN" sz="1800" b="1" dirty="0">
                <a:latin typeface="Times New Roman" panose="02020603050405020304" pitchFamily="18" charset="0"/>
                <a:cs typeface="Times New Roman" panose="02020603050405020304" pitchFamily="18" charset="0"/>
              </a:rPr>
            </a:br>
            <a:r>
              <a:rPr lang="en-IN" sz="1800" b="1" u="sng" dirty="0">
                <a:solidFill>
                  <a:srgbClr val="00B0F0"/>
                </a:solidFill>
                <a:latin typeface="Times New Roman" panose="02020603050405020304" pitchFamily="18" charset="0"/>
                <a:cs typeface="Times New Roman" panose="02020603050405020304" pitchFamily="18" charset="0"/>
              </a:rPr>
              <a:t>Project Title</a:t>
            </a:r>
            <a:br>
              <a:rPr lang="en-IN" sz="1800" dirty="0">
                <a:latin typeface="Times New Roman" panose="02020603050405020304" pitchFamily="18" charset="0"/>
                <a:cs typeface="Times New Roman" panose="02020603050405020304" pitchFamily="18" charset="0"/>
              </a:rPr>
            </a:br>
            <a:r>
              <a:rPr lang="en-IN" sz="1800" i="1" dirty="0">
                <a:latin typeface="Times New Roman" panose="02020603050405020304" pitchFamily="18" charset="0"/>
                <a:cs typeface="Times New Roman" panose="02020603050405020304" pitchFamily="18" charset="0"/>
              </a:rPr>
              <a:t>Public Transport Delay Prediction and Scheduling Analytics</a:t>
            </a:r>
          </a:p>
          <a:p>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								Submitted By</a:t>
            </a:r>
            <a:r>
              <a:rPr lang="en-IN" b="1" dirty="0">
                <a:latin typeface="Times New Roman" panose="02020603050405020304" pitchFamily="18" charset="0"/>
                <a:cs typeface="Times New Roman" panose="02020603050405020304" pitchFamily="18" charset="0"/>
              </a:rPr>
              <a:t>:</a:t>
            </a: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pPr algn="ctr"/>
            <a:r>
              <a:rPr lang="en-IN" b="1" dirty="0">
                <a:latin typeface="Times New Roman" panose="02020603050405020304" pitchFamily="18" charset="0"/>
                <a:cs typeface="Times New Roman" panose="02020603050405020304" pitchFamily="18" charset="0"/>
              </a:rPr>
              <a:t>Under the Guidance of</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Mrs. T. </a:t>
            </a:r>
            <a:r>
              <a:rPr lang="en-IN" dirty="0" err="1">
                <a:latin typeface="Times New Roman" panose="02020603050405020304" pitchFamily="18" charset="0"/>
                <a:cs typeface="Times New Roman" panose="02020603050405020304" pitchFamily="18" charset="0"/>
              </a:rPr>
              <a:t>Amruthavalli,M.Tech</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Associate Professor</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Department of CSE (AI &amp; ML)</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endParaRPr lang="en-IN" dirty="0"/>
          </a:p>
        </p:txBody>
      </p:sp>
      <p:graphicFrame>
        <p:nvGraphicFramePr>
          <p:cNvPr id="4" name="Table 3">
            <a:extLst>
              <a:ext uri="{FF2B5EF4-FFF2-40B4-BE49-F238E27FC236}">
                <a16:creationId xmlns:a16="http://schemas.microsoft.com/office/drawing/2014/main" id="{4105305B-10CE-1345-15A5-50027188FEE1}"/>
              </a:ext>
            </a:extLst>
          </p:cNvPr>
          <p:cNvGraphicFramePr>
            <a:graphicFrameLocks noGrp="1"/>
          </p:cNvGraphicFramePr>
          <p:nvPr>
            <p:extLst>
              <p:ext uri="{D42A27DB-BD31-4B8C-83A1-F6EECF244321}">
                <p14:modId xmlns:p14="http://schemas.microsoft.com/office/powerpoint/2010/main" val="4245801919"/>
              </p:ext>
            </p:extLst>
          </p:nvPr>
        </p:nvGraphicFramePr>
        <p:xfrm>
          <a:off x="3223607" y="3212976"/>
          <a:ext cx="2948305" cy="1490345"/>
        </p:xfrm>
        <a:graphic>
          <a:graphicData uri="http://schemas.openxmlformats.org/drawingml/2006/table">
            <a:tbl>
              <a:tblPr firstRow="1" firstCol="1" bandRow="1">
                <a:tableStyleId>{073A0DAA-6AF3-43AB-8588-CEC1D06C72B9}</a:tableStyleId>
              </a:tblPr>
              <a:tblGrid>
                <a:gridCol w="1460500">
                  <a:extLst>
                    <a:ext uri="{9D8B030D-6E8A-4147-A177-3AD203B41FA5}">
                      <a16:colId xmlns:a16="http://schemas.microsoft.com/office/drawing/2014/main" val="49859404"/>
                    </a:ext>
                  </a:extLst>
                </a:gridCol>
                <a:gridCol w="1487805">
                  <a:extLst>
                    <a:ext uri="{9D8B030D-6E8A-4147-A177-3AD203B41FA5}">
                      <a16:colId xmlns:a16="http://schemas.microsoft.com/office/drawing/2014/main" val="4221890562"/>
                    </a:ext>
                  </a:extLst>
                </a:gridCol>
              </a:tblGrid>
              <a:tr h="195580">
                <a:tc>
                  <a:txBody>
                    <a:bodyPr/>
                    <a:lstStyle/>
                    <a:p>
                      <a:pPr algn="just">
                        <a:lnSpc>
                          <a:spcPct val="115000"/>
                        </a:lnSpc>
                        <a:buNone/>
                      </a:pPr>
                      <a:r>
                        <a:rPr lang="en-IN" sz="1400" kern="100" dirty="0">
                          <a:effectLst/>
                        </a:rPr>
                        <a:t>Student Name</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buNone/>
                      </a:pPr>
                      <a:r>
                        <a:rPr lang="en-IN" sz="1400" kern="100">
                          <a:effectLst/>
                        </a:rPr>
                        <a:t>Register Number</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38930004"/>
                  </a:ext>
                </a:extLst>
              </a:tr>
              <a:tr h="203835">
                <a:tc>
                  <a:txBody>
                    <a:bodyPr/>
                    <a:lstStyle/>
                    <a:p>
                      <a:pPr algn="just">
                        <a:lnSpc>
                          <a:spcPct val="115000"/>
                        </a:lnSpc>
                        <a:buNone/>
                      </a:pPr>
                      <a:r>
                        <a:rPr lang="en-IN" sz="1400" kern="100" dirty="0">
                          <a:effectLst/>
                        </a:rPr>
                        <a:t>M. Karthik</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buNone/>
                      </a:pPr>
                      <a:r>
                        <a:rPr lang="en-IN" sz="1400" kern="100" dirty="0">
                          <a:effectLst/>
                        </a:rPr>
                        <a:t>22781A3383</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89621045"/>
                  </a:ext>
                </a:extLst>
              </a:tr>
              <a:tr h="195580">
                <a:tc>
                  <a:txBody>
                    <a:bodyPr/>
                    <a:lstStyle/>
                    <a:p>
                      <a:pPr algn="just">
                        <a:lnSpc>
                          <a:spcPct val="115000"/>
                        </a:lnSpc>
                        <a:buNone/>
                      </a:pPr>
                      <a:r>
                        <a:rPr lang="en-IN" sz="1400" kern="100" dirty="0">
                          <a:effectLst/>
                        </a:rPr>
                        <a:t>M. Srihari</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buNone/>
                      </a:pPr>
                      <a:r>
                        <a:rPr lang="en-IN" sz="1400" kern="100" dirty="0">
                          <a:effectLst/>
                        </a:rPr>
                        <a:t>22781A3391</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07428782"/>
                  </a:ext>
                </a:extLst>
              </a:tr>
              <a:tr h="195580">
                <a:tc>
                  <a:txBody>
                    <a:bodyPr/>
                    <a:lstStyle/>
                    <a:p>
                      <a:pPr algn="just">
                        <a:lnSpc>
                          <a:spcPct val="115000"/>
                        </a:lnSpc>
                        <a:buNone/>
                      </a:pPr>
                      <a:r>
                        <a:rPr lang="en-IN" sz="1400" kern="100" dirty="0">
                          <a:effectLst/>
                        </a:rPr>
                        <a:t>T. Harshitha</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buNone/>
                      </a:pPr>
                      <a:r>
                        <a:rPr lang="en-IN" sz="1400" kern="100" dirty="0">
                          <a:effectLst/>
                        </a:rPr>
                        <a:t>22781A33C3</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41074553"/>
                  </a:ext>
                </a:extLst>
              </a:tr>
              <a:tr h="184956">
                <a:tc>
                  <a:txBody>
                    <a:bodyPr/>
                    <a:lstStyle/>
                    <a:p>
                      <a:pPr algn="just">
                        <a:lnSpc>
                          <a:spcPct val="115000"/>
                        </a:lnSpc>
                        <a:buNone/>
                      </a:pPr>
                      <a:r>
                        <a:rPr lang="en-IN" sz="1400" kern="100" dirty="0">
                          <a:effectLst/>
                        </a:rPr>
                        <a:t>U. Phani Kumar</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buNone/>
                      </a:pPr>
                      <a:r>
                        <a:rPr lang="en-IN" sz="1400" kern="100">
                          <a:effectLst/>
                        </a:rPr>
                        <a:t>22781A33D4</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77973604"/>
                  </a:ext>
                </a:extLst>
              </a:tr>
              <a:tr h="195580">
                <a:tc>
                  <a:txBody>
                    <a:bodyPr/>
                    <a:lstStyle/>
                    <a:p>
                      <a:pPr algn="just">
                        <a:lnSpc>
                          <a:spcPct val="115000"/>
                        </a:lnSpc>
                        <a:buNone/>
                      </a:pPr>
                      <a:r>
                        <a:rPr lang="en-IN" sz="1400" kern="100">
                          <a:effectLst/>
                        </a:rPr>
                        <a:t>S. Ahmad Basha</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buNone/>
                      </a:pPr>
                      <a:r>
                        <a:rPr lang="en-IN" sz="1400" kern="100" dirty="0">
                          <a:effectLst/>
                        </a:rPr>
                        <a:t>23785A3314</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10398844"/>
                  </a:ext>
                </a:extLst>
              </a:tr>
            </a:tbl>
          </a:graphicData>
        </a:graphic>
      </p:graphicFrame>
      <p:pic>
        <p:nvPicPr>
          <p:cNvPr id="6" name="Image 1">
            <a:extLst>
              <a:ext uri="{FF2B5EF4-FFF2-40B4-BE49-F238E27FC236}">
                <a16:creationId xmlns:a16="http://schemas.microsoft.com/office/drawing/2014/main" id="{3AE688BE-4519-350E-31EB-EC4477AE3305}"/>
              </a:ext>
            </a:extLst>
          </p:cNvPr>
          <p:cNvPicPr>
            <a:picLocks/>
          </p:cNvPicPr>
          <p:nvPr/>
        </p:nvPicPr>
        <p:blipFill>
          <a:blip r:embed="rId2" cstate="print"/>
          <a:stretch>
            <a:fillRect/>
          </a:stretch>
        </p:blipFill>
        <p:spPr>
          <a:xfrm>
            <a:off x="467544" y="692696"/>
            <a:ext cx="1080000" cy="1080000"/>
          </a:xfrm>
          <a:prstGeom prst="rect">
            <a:avLst/>
          </a:prstGeom>
        </p:spPr>
      </p:pic>
    </p:spTree>
    <p:extLst>
      <p:ext uri="{BB962C8B-B14F-4D97-AF65-F5344CB8AC3E}">
        <p14:creationId xmlns:p14="http://schemas.microsoft.com/office/powerpoint/2010/main" val="22767111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C85B0E-F12F-42FE-025D-23802117FEB7}"/>
              </a:ext>
            </a:extLst>
          </p:cNvPr>
          <p:cNvSpPr txBox="1"/>
          <p:nvPr/>
        </p:nvSpPr>
        <p:spPr>
          <a:xfrm>
            <a:off x="1259632" y="1305341"/>
            <a:ext cx="6768752" cy="4247317"/>
          </a:xfrm>
          <a:prstGeom prst="rect">
            <a:avLst/>
          </a:prstGeom>
          <a:noFill/>
        </p:spPr>
        <p:txBody>
          <a:bodyPr wrap="square">
            <a:spAutoFit/>
          </a:bodyPr>
          <a:lstStyle/>
          <a:p>
            <a:pPr algn="ctr">
              <a:buNone/>
            </a:pPr>
            <a:r>
              <a:rPr lang="en-US" b="1" dirty="0">
                <a:solidFill>
                  <a:schemeClr val="accent1"/>
                </a:solidFill>
                <a:latin typeface="Times New Roman" panose="02020603050405020304" pitchFamily="18" charset="0"/>
                <a:cs typeface="Times New Roman" panose="02020603050405020304" pitchFamily="18" charset="0"/>
              </a:rPr>
              <a:t>ABSTRACT</a:t>
            </a:r>
            <a:r>
              <a:rPr lang="en-US" b="1" dirty="0">
                <a:latin typeface="Times New Roman" panose="02020603050405020304" pitchFamily="18" charset="0"/>
                <a:cs typeface="Times New Roman" panose="02020603050405020304" pitchFamily="18" charset="0"/>
              </a:rPr>
              <a:t> </a:t>
            </a:r>
          </a:p>
          <a:p>
            <a:pPr algn="just">
              <a:buNone/>
            </a:pPr>
            <a:r>
              <a:rPr lang="en-US" dirty="0">
                <a:latin typeface="Times New Roman" panose="02020603050405020304" pitchFamily="18" charset="0"/>
                <a:cs typeface="Times New Roman" panose="02020603050405020304" pitchFamily="18" charset="0"/>
              </a:rPr>
              <a:t>Public transport is an essential part of daily travel in urban areas, but delays caused by traffic congestion, weather conditions, and peak-hour demand create uncertainty for commuters. This project focuses on developing a </a:t>
            </a:r>
            <a:r>
              <a:rPr lang="en-US" b="1" dirty="0">
                <a:latin typeface="Times New Roman" panose="02020603050405020304" pitchFamily="18" charset="0"/>
                <a:cs typeface="Times New Roman" panose="02020603050405020304" pitchFamily="18" charset="0"/>
              </a:rPr>
              <a:t>Public Transport Delay Prediction and Scheduling Analytics System</a:t>
            </a:r>
            <a:r>
              <a:rPr lang="en-US" dirty="0">
                <a:latin typeface="Times New Roman" panose="02020603050405020304" pitchFamily="18" charset="0"/>
                <a:cs typeface="Times New Roman" panose="02020603050405020304" pitchFamily="18" charset="0"/>
              </a:rPr>
              <a:t> using machine learning techniques to predict delay duration and provide realistic arrival time estimates. The system analyzes historical transport data along with contextual factors such as route details, time of travel, and weather conditions to identify delay patterns. It supports multiple transport modes including buses, metro, and trains, and presents the predicted results through a user-friendly web interface. By providing accurate delay information and expected arrival times, the proposed system helps commuters plan their journeys more efficiently and improves the overall reliability of public transport services.</a:t>
            </a:r>
          </a:p>
        </p:txBody>
      </p:sp>
    </p:spTree>
    <p:extLst>
      <p:ext uri="{BB962C8B-B14F-4D97-AF65-F5344CB8AC3E}">
        <p14:creationId xmlns:p14="http://schemas.microsoft.com/office/powerpoint/2010/main" val="3228427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a:extLst>
              <a:ext uri="{FF2B5EF4-FFF2-40B4-BE49-F238E27FC236}">
                <a16:creationId xmlns:a16="http://schemas.microsoft.com/office/drawing/2014/main" id="{050309BE-559A-1537-6FCC-B358B0FC94B0}"/>
              </a:ext>
            </a:extLst>
          </p:cNvPr>
          <p:cNvSpPr>
            <a:spLocks noGrp="1" noChangeArrowheads="1"/>
          </p:cNvSpPr>
          <p:nvPr>
            <p:ph idx="1"/>
          </p:nvPr>
        </p:nvSpPr>
        <p:spPr>
          <a:xfrm>
            <a:off x="827584" y="692696"/>
            <a:ext cx="6769100" cy="5400600"/>
          </a:xfrm>
        </p:spPr>
        <p:txBody>
          <a:bodyPr/>
          <a:lstStyle/>
          <a:p>
            <a:pPr marL="0" indent="0">
              <a:buNone/>
            </a:pPr>
            <a:endParaRPr lang="en-IN" sz="2000" b="1" dirty="0">
              <a:solidFill>
                <a:srgbClr val="00B0F0"/>
              </a:solidFill>
              <a:latin typeface="Times New Roman" panose="02020603050405020304" pitchFamily="18" charset="0"/>
              <a:cs typeface="Times New Roman" panose="02020603050405020304" pitchFamily="18" charset="0"/>
            </a:endParaRPr>
          </a:p>
          <a:p>
            <a:pPr marL="0" indent="0">
              <a:buNone/>
            </a:pPr>
            <a:r>
              <a:rPr lang="en-IN" sz="2000" b="1" dirty="0">
                <a:solidFill>
                  <a:schemeClr val="accent1"/>
                </a:solidFill>
                <a:latin typeface="Times New Roman" panose="02020603050405020304" pitchFamily="18" charset="0"/>
                <a:cs typeface="Times New Roman" panose="02020603050405020304" pitchFamily="18" charset="0"/>
              </a:rPr>
              <a:t>AGENDA</a:t>
            </a:r>
          </a:p>
          <a:p>
            <a:r>
              <a:rPr lang="en-IN" sz="2000" dirty="0">
                <a:latin typeface="Times New Roman" panose="02020603050405020304" pitchFamily="18" charset="0"/>
                <a:cs typeface="Times New Roman" panose="02020603050405020304" pitchFamily="18" charset="0"/>
              </a:rPr>
              <a:t>Introduction</a:t>
            </a:r>
          </a:p>
          <a:p>
            <a:r>
              <a:rPr lang="en-IN" sz="2000" dirty="0">
                <a:latin typeface="Times New Roman" panose="02020603050405020304" pitchFamily="18" charset="0"/>
                <a:cs typeface="Times New Roman" panose="02020603050405020304" pitchFamily="18" charset="0"/>
              </a:rPr>
              <a:t>Problem Statement</a:t>
            </a:r>
          </a:p>
          <a:p>
            <a:r>
              <a:rPr lang="en-IN" sz="2000" dirty="0">
                <a:latin typeface="Times New Roman" panose="02020603050405020304" pitchFamily="18" charset="0"/>
                <a:cs typeface="Times New Roman" panose="02020603050405020304" pitchFamily="18" charset="0"/>
              </a:rPr>
              <a:t>Existing System</a:t>
            </a:r>
          </a:p>
          <a:p>
            <a:r>
              <a:rPr lang="en-IN" sz="2000" dirty="0">
                <a:latin typeface="Times New Roman" panose="02020603050405020304" pitchFamily="18" charset="0"/>
                <a:cs typeface="Times New Roman" panose="02020603050405020304" pitchFamily="18" charset="0"/>
              </a:rPr>
              <a:t>Proposed System</a:t>
            </a:r>
          </a:p>
          <a:p>
            <a:r>
              <a:rPr lang="en-IN" sz="2000" dirty="0">
                <a:latin typeface="Times New Roman" panose="02020603050405020304" pitchFamily="18" charset="0"/>
                <a:cs typeface="Times New Roman" panose="02020603050405020304" pitchFamily="18" charset="0"/>
              </a:rPr>
              <a:t>System Architecture</a:t>
            </a:r>
          </a:p>
          <a:p>
            <a:r>
              <a:rPr lang="en-IN" sz="2000" dirty="0">
                <a:latin typeface="Times New Roman" panose="02020603050405020304" pitchFamily="18" charset="0"/>
                <a:cs typeface="Times New Roman" panose="02020603050405020304" pitchFamily="18" charset="0"/>
              </a:rPr>
              <a:t>Methodology</a:t>
            </a:r>
          </a:p>
          <a:p>
            <a:r>
              <a:rPr lang="en-IN" sz="2000" dirty="0">
                <a:latin typeface="Times New Roman" panose="02020603050405020304" pitchFamily="18" charset="0"/>
                <a:cs typeface="Times New Roman" panose="02020603050405020304" pitchFamily="18" charset="0"/>
              </a:rPr>
              <a:t>Implementation</a:t>
            </a:r>
          </a:p>
          <a:p>
            <a:r>
              <a:rPr lang="en-IN" sz="2000" dirty="0">
                <a:latin typeface="Times New Roman" panose="02020603050405020304" pitchFamily="18" charset="0"/>
                <a:cs typeface="Times New Roman" panose="02020603050405020304" pitchFamily="18" charset="0"/>
              </a:rPr>
              <a:t>Experimental Setup &amp; Results</a:t>
            </a:r>
          </a:p>
          <a:p>
            <a:r>
              <a:rPr lang="en-IN" sz="2000" dirty="0">
                <a:latin typeface="Times New Roman" panose="02020603050405020304" pitchFamily="18" charset="0"/>
                <a:cs typeface="Times New Roman" panose="02020603050405020304" pitchFamily="18" charset="0"/>
              </a:rPr>
              <a:t>Applications</a:t>
            </a:r>
          </a:p>
          <a:p>
            <a:r>
              <a:rPr lang="en-IN" sz="2000" dirty="0">
                <a:latin typeface="Times New Roman" panose="02020603050405020304" pitchFamily="18" charset="0"/>
                <a:cs typeface="Times New Roman" panose="02020603050405020304" pitchFamily="18" charset="0"/>
              </a:rPr>
              <a:t>Future Scope</a:t>
            </a:r>
          </a:p>
          <a:p>
            <a:r>
              <a:rPr lang="en-IN" sz="2000" dirty="0">
                <a:latin typeface="Times New Roman" panose="02020603050405020304" pitchFamily="18" charset="0"/>
                <a:cs typeface="Times New Roman" panose="02020603050405020304" pitchFamily="18" charset="0"/>
              </a:rPr>
              <a:t>Conclusion</a:t>
            </a:r>
          </a:p>
          <a:p>
            <a:pPr>
              <a:lnSpc>
                <a:spcPct val="90000"/>
              </a:lnSpc>
            </a:pPr>
            <a:endParaRPr lang="uk-UA" alt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AD5E82-6999-1F51-60E5-9FBAB119905F}"/>
              </a:ext>
            </a:extLst>
          </p:cNvPr>
          <p:cNvSpPr txBox="1"/>
          <p:nvPr/>
        </p:nvSpPr>
        <p:spPr>
          <a:xfrm>
            <a:off x="1223628" y="1268760"/>
            <a:ext cx="6696744" cy="3970318"/>
          </a:xfrm>
          <a:prstGeom prst="rect">
            <a:avLst/>
          </a:prstGeom>
          <a:noFill/>
        </p:spPr>
        <p:txBody>
          <a:bodyPr wrap="square">
            <a:spAutoFit/>
          </a:bodyPr>
          <a:lstStyle/>
          <a:p>
            <a:pPr algn="ctr">
              <a:buNone/>
            </a:pPr>
            <a:r>
              <a:rPr lang="en-US" b="1" dirty="0">
                <a:solidFill>
                  <a:schemeClr val="accent1"/>
                </a:solidFill>
                <a:latin typeface="Times New Roman" panose="02020603050405020304" pitchFamily="18" charset="0"/>
                <a:cs typeface="Times New Roman" panose="02020603050405020304" pitchFamily="18" charset="0"/>
              </a:rPr>
              <a:t>1. INTRODUCTION</a:t>
            </a:r>
          </a:p>
          <a:p>
            <a:pPr algn="just">
              <a:buNone/>
            </a:pPr>
            <a:r>
              <a:rPr lang="en-US" dirty="0">
                <a:latin typeface="Times New Roman" panose="02020603050405020304" pitchFamily="18" charset="0"/>
                <a:cs typeface="Times New Roman" panose="02020603050405020304" pitchFamily="18" charset="0"/>
              </a:rPr>
              <a:t>Public transport systems such as buses, metro, and trains play a major role in daily commuting, especially in large cities where traffic congestion is high. Although public transport helps reduce travel cost and traffic, delays frequently occur due to factors like traffic congestion, peak-hour rush, weather conditions, road incidents, and operational issues. Most existing transport systems provide only fixed schedules, which do not reflect real-time conditions, leading to inaccurate arrival time information. With the growth of urban population and increasing dependency on public transport, there is a strong need for an intelligent system that can predict delays accurately and provide realistic arrival times. Machine learning techniques offer an effective solution by analyzing historical data and external factors to improve the reliability of public transport services.</a:t>
            </a:r>
          </a:p>
        </p:txBody>
      </p:sp>
    </p:spTree>
    <p:extLst>
      <p:ext uri="{BB962C8B-B14F-4D97-AF65-F5344CB8AC3E}">
        <p14:creationId xmlns:p14="http://schemas.microsoft.com/office/powerpoint/2010/main" val="1266169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D082CF-D244-4BEC-13DC-8A7C990F694A}"/>
              </a:ext>
            </a:extLst>
          </p:cNvPr>
          <p:cNvSpPr txBox="1"/>
          <p:nvPr/>
        </p:nvSpPr>
        <p:spPr>
          <a:xfrm>
            <a:off x="1412776" y="1268760"/>
            <a:ext cx="6318448" cy="3970318"/>
          </a:xfrm>
          <a:prstGeom prst="rect">
            <a:avLst/>
          </a:prstGeom>
          <a:noFill/>
        </p:spPr>
        <p:txBody>
          <a:bodyPr wrap="square">
            <a:spAutoFit/>
          </a:bodyPr>
          <a:lstStyle/>
          <a:p>
            <a:pPr algn="ctr">
              <a:buNone/>
            </a:pPr>
            <a:r>
              <a:rPr lang="en-US" b="1" dirty="0">
                <a:solidFill>
                  <a:schemeClr val="accent1"/>
                </a:solidFill>
                <a:latin typeface="Times New Roman" panose="02020603050405020304" pitchFamily="18" charset="0"/>
                <a:cs typeface="Times New Roman" panose="02020603050405020304" pitchFamily="18" charset="0"/>
              </a:rPr>
              <a:t>2. PROBLEM STATEMENT </a:t>
            </a:r>
          </a:p>
          <a:p>
            <a:pPr algn="just">
              <a:buNone/>
            </a:pPr>
            <a:r>
              <a:rPr lang="en-US" dirty="0">
                <a:latin typeface="Times New Roman" panose="02020603050405020304" pitchFamily="18" charset="0"/>
                <a:cs typeface="Times New Roman" panose="02020603050405020304" pitchFamily="18" charset="0"/>
              </a:rPr>
              <a:t>Public transport systems operate in dynamic environments where travel time is affected by traffic congestion, weather conditions, peak-hour demand, and operational constraints. Existing transport information systems mainly rely on fixed schedules and historical averages, which fail to provide accurate arrival time predictions under real-world conditions. These systems do not effectively consider external factors such as traffic and weather, resulting in unreliable delay information. As a result, commuters face uncertainty, wasted time, and difficulty in planning their journeys. Therefore, there is a need for an intelligent and data-driven system that can accurately predict public transport delays and provide realistic arrival time estimates to improve travel planning and user experience.</a:t>
            </a:r>
          </a:p>
        </p:txBody>
      </p:sp>
    </p:spTree>
    <p:extLst>
      <p:ext uri="{BB962C8B-B14F-4D97-AF65-F5344CB8AC3E}">
        <p14:creationId xmlns:p14="http://schemas.microsoft.com/office/powerpoint/2010/main" val="246638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352B88-C6CB-F424-3F87-450D125A06C4}"/>
              </a:ext>
            </a:extLst>
          </p:cNvPr>
          <p:cNvSpPr txBox="1"/>
          <p:nvPr/>
        </p:nvSpPr>
        <p:spPr>
          <a:xfrm>
            <a:off x="1547664" y="1196752"/>
            <a:ext cx="6912768" cy="4524315"/>
          </a:xfrm>
          <a:prstGeom prst="rect">
            <a:avLst/>
          </a:prstGeom>
          <a:noFill/>
        </p:spPr>
        <p:txBody>
          <a:bodyPr wrap="square">
            <a:spAutoFit/>
          </a:bodyPr>
          <a:lstStyle/>
          <a:p>
            <a:r>
              <a:rPr lang="en-US" b="1" dirty="0">
                <a:solidFill>
                  <a:schemeClr val="accent1"/>
                </a:solidFill>
                <a:latin typeface="Times New Roman" panose="02020603050405020304" pitchFamily="18" charset="0"/>
                <a:cs typeface="Times New Roman" panose="02020603050405020304" pitchFamily="18" charset="0"/>
              </a:rPr>
              <a:t>EXISTING SYSTEM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Shows only </a:t>
            </a:r>
            <a:r>
              <a:rPr lang="en-US" b="1" dirty="0">
                <a:latin typeface="Times New Roman" panose="02020603050405020304" pitchFamily="18" charset="0"/>
                <a:cs typeface="Times New Roman" panose="02020603050405020304" pitchFamily="18" charset="0"/>
              </a:rPr>
              <a:t>fixed bus, metro, and train schedules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Arrival time is based on </a:t>
            </a:r>
            <a:r>
              <a:rPr lang="en-US" b="1" dirty="0">
                <a:latin typeface="Times New Roman" panose="02020603050405020304" pitchFamily="18" charset="0"/>
                <a:cs typeface="Times New Roman" panose="02020603050405020304" pitchFamily="18" charset="0"/>
              </a:rPr>
              <a:t>planned timetable</a:t>
            </a:r>
            <a:r>
              <a:rPr lang="en-US" dirty="0">
                <a:latin typeface="Times New Roman" panose="02020603050405020304" pitchFamily="18" charset="0"/>
                <a:cs typeface="Times New Roman" panose="02020603050405020304" pitchFamily="18" charset="0"/>
              </a:rPr>
              <a:t>, not actual conditions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No delay prediction</a:t>
            </a:r>
            <a:r>
              <a:rPr lang="en-US" dirty="0">
                <a:latin typeface="Times New Roman" panose="02020603050405020304" pitchFamily="18" charset="0"/>
                <a:cs typeface="Times New Roman" panose="02020603050405020304" pitchFamily="18" charset="0"/>
              </a:rPr>
              <a:t> is provided to passengers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Does not use </a:t>
            </a:r>
            <a:r>
              <a:rPr lang="en-US" b="1" dirty="0">
                <a:latin typeface="Times New Roman" panose="02020603050405020304" pitchFamily="18" charset="0"/>
                <a:cs typeface="Times New Roman" panose="02020603050405020304" pitchFamily="18" charset="0"/>
              </a:rPr>
              <a:t>machine learning or data analytics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Traffic and weather effects are </a:t>
            </a:r>
            <a:r>
              <a:rPr lang="en-US" b="1" dirty="0">
                <a:latin typeface="Times New Roman" panose="02020603050405020304" pitchFamily="18" charset="0"/>
                <a:cs typeface="Times New Roman" panose="02020603050405020304" pitchFamily="18" charset="0"/>
              </a:rPr>
              <a:t>not considered</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Passengers cannot know </a:t>
            </a:r>
            <a:r>
              <a:rPr lang="en-US" b="1" dirty="0">
                <a:latin typeface="Times New Roman" panose="02020603050405020304" pitchFamily="18" charset="0"/>
                <a:cs typeface="Times New Roman" panose="02020603050405020304" pitchFamily="18" charset="0"/>
              </a:rPr>
              <a:t>how late the transport will be</a:t>
            </a:r>
          </a:p>
          <a:p>
            <a:endParaRPr lang="en-US" b="1" dirty="0">
              <a:latin typeface="Times New Roman" panose="02020603050405020304" pitchFamily="18" charset="0"/>
              <a:cs typeface="Times New Roman" panose="02020603050405020304" pitchFamily="18" charset="0"/>
            </a:endParaRPr>
          </a:p>
          <a:p>
            <a:r>
              <a:rPr lang="en-US" b="1" dirty="0">
                <a:solidFill>
                  <a:schemeClr val="accent1"/>
                </a:solidFill>
                <a:latin typeface="Times New Roman" panose="02020603050405020304" pitchFamily="18" charset="0"/>
                <a:cs typeface="Times New Roman" panose="02020603050405020304" pitchFamily="18" charset="0"/>
              </a:rPr>
              <a:t>LIMITATIONS OF EXISTING SYSTEM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Cannot predict </a:t>
            </a:r>
            <a:r>
              <a:rPr lang="en-US" b="1" dirty="0">
                <a:latin typeface="Times New Roman" panose="02020603050405020304" pitchFamily="18" charset="0"/>
                <a:cs typeface="Times New Roman" panose="02020603050405020304" pitchFamily="18" charset="0"/>
              </a:rPr>
              <a:t>delay duration in minutes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Ignores </a:t>
            </a:r>
            <a:r>
              <a:rPr lang="en-US" b="1" dirty="0">
                <a:latin typeface="Times New Roman" panose="02020603050405020304" pitchFamily="18" charset="0"/>
                <a:cs typeface="Times New Roman" panose="02020603050405020304" pitchFamily="18" charset="0"/>
              </a:rPr>
              <a:t>traffic congestion and peak hours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Weather conditions like </a:t>
            </a:r>
            <a:r>
              <a:rPr lang="en-US" b="1" dirty="0">
                <a:latin typeface="Times New Roman" panose="02020603050405020304" pitchFamily="18" charset="0"/>
                <a:cs typeface="Times New Roman" panose="02020603050405020304" pitchFamily="18" charset="0"/>
              </a:rPr>
              <a:t>rain are not included</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Arrival time information is often </a:t>
            </a:r>
            <a:r>
              <a:rPr lang="en-US" b="1" dirty="0">
                <a:latin typeface="Times New Roman" panose="02020603050405020304" pitchFamily="18" charset="0"/>
                <a:cs typeface="Times New Roman" panose="02020603050405020304" pitchFamily="18" charset="0"/>
              </a:rPr>
              <a:t>inaccurate</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explanation for </a:t>
            </a:r>
            <a:r>
              <a:rPr lang="en-US" b="1" dirty="0">
                <a:latin typeface="Times New Roman" panose="02020603050405020304" pitchFamily="18" charset="0"/>
                <a:cs typeface="Times New Roman" panose="02020603050405020304" pitchFamily="18" charset="0"/>
              </a:rPr>
              <a:t>reason of delay</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Makes </a:t>
            </a:r>
            <a:r>
              <a:rPr lang="en-US" b="1" dirty="0">
                <a:latin typeface="Times New Roman" panose="02020603050405020304" pitchFamily="18" charset="0"/>
                <a:cs typeface="Times New Roman" panose="02020603050405020304" pitchFamily="18" charset="0"/>
              </a:rPr>
              <a:t>journey planning difficult</a:t>
            </a:r>
            <a:r>
              <a:rPr lang="en-US" dirty="0">
                <a:latin typeface="Times New Roman" panose="02020603050405020304" pitchFamily="18" charset="0"/>
                <a:cs typeface="Times New Roman" panose="02020603050405020304" pitchFamily="18" charset="0"/>
              </a:rPr>
              <a:t> for commuters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3508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1D04C5-E59B-E7F6-6DCC-02A3916AE232}"/>
              </a:ext>
            </a:extLst>
          </p:cNvPr>
          <p:cNvSpPr txBox="1"/>
          <p:nvPr/>
        </p:nvSpPr>
        <p:spPr>
          <a:xfrm>
            <a:off x="1691680" y="1484784"/>
            <a:ext cx="6336704" cy="3782061"/>
          </a:xfrm>
          <a:prstGeom prst="rect">
            <a:avLst/>
          </a:prstGeom>
          <a:noFill/>
        </p:spPr>
        <p:txBody>
          <a:bodyPr wrap="square">
            <a:spAutoFit/>
          </a:bodyPr>
          <a:lstStyle/>
          <a:p>
            <a:pPr algn="ctr">
              <a:lnSpc>
                <a:spcPct val="150000"/>
              </a:lnSpc>
              <a:buNone/>
            </a:pPr>
            <a:r>
              <a:rPr lang="en-US" b="1" dirty="0">
                <a:solidFill>
                  <a:schemeClr val="accent1"/>
                </a:solidFill>
                <a:latin typeface="Times New Roman" panose="02020603050405020304" pitchFamily="18" charset="0"/>
                <a:cs typeface="Times New Roman" panose="02020603050405020304" pitchFamily="18" charset="0"/>
              </a:rPr>
              <a:t>PROPOSED SYSTEM</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Predicts </a:t>
            </a:r>
            <a:r>
              <a:rPr lang="en-US" b="1" dirty="0">
                <a:latin typeface="Times New Roman" panose="02020603050405020304" pitchFamily="18" charset="0"/>
                <a:cs typeface="Times New Roman" panose="02020603050405020304" pitchFamily="18" charset="0"/>
              </a:rPr>
              <a:t>delay duration in minutes</a:t>
            </a:r>
            <a:endParaRPr lang="en-US"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a:t>
            </a:r>
            <a:r>
              <a:rPr lang="en-US" b="1" dirty="0">
                <a:latin typeface="Times New Roman" panose="02020603050405020304" pitchFamily="18" charset="0"/>
                <a:cs typeface="Times New Roman" panose="02020603050405020304" pitchFamily="18" charset="0"/>
              </a:rPr>
              <a:t>Machine Learning</a:t>
            </a:r>
            <a:r>
              <a:rPr lang="en-US" dirty="0">
                <a:latin typeface="Times New Roman" panose="02020603050405020304" pitchFamily="18" charset="0"/>
                <a:cs typeface="Times New Roman" panose="02020603050405020304" pitchFamily="18" charset="0"/>
              </a:rPr>
              <a:t> to predict public transport delays</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Considers </a:t>
            </a:r>
            <a:r>
              <a:rPr lang="en-US" b="1" dirty="0">
                <a:latin typeface="Times New Roman" panose="02020603050405020304" pitchFamily="18" charset="0"/>
                <a:cs typeface="Times New Roman" panose="02020603050405020304" pitchFamily="18" charset="0"/>
              </a:rPr>
              <a:t>traffic conditions, peak hours, and weather data</a:t>
            </a:r>
            <a:endParaRPr lang="en-US"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Supports </a:t>
            </a:r>
            <a:r>
              <a:rPr lang="en-US" b="1" dirty="0">
                <a:latin typeface="Times New Roman" panose="02020603050405020304" pitchFamily="18" charset="0"/>
                <a:cs typeface="Times New Roman" panose="02020603050405020304" pitchFamily="18" charset="0"/>
              </a:rPr>
              <a:t>bus, metro, and train</a:t>
            </a:r>
            <a:r>
              <a:rPr lang="en-US" dirty="0">
                <a:latin typeface="Times New Roman" panose="02020603050405020304" pitchFamily="18" charset="0"/>
                <a:cs typeface="Times New Roman" panose="02020603050405020304" pitchFamily="18" charset="0"/>
              </a:rPr>
              <a:t> services</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a:t>
            </a:r>
            <a:r>
              <a:rPr lang="en-US" b="1" dirty="0">
                <a:latin typeface="Times New Roman" panose="02020603050405020304" pitchFamily="18" charset="0"/>
                <a:cs typeface="Times New Roman" panose="02020603050405020304" pitchFamily="18" charset="0"/>
              </a:rPr>
              <a:t>expected arrival time</a:t>
            </a:r>
            <a:r>
              <a:rPr lang="en-US" dirty="0">
                <a:latin typeface="Times New Roman" panose="02020603050405020304" pitchFamily="18" charset="0"/>
                <a:cs typeface="Times New Roman" panose="02020603050405020304" pitchFamily="18" charset="0"/>
              </a:rPr>
              <a:t> instead of only schedule time</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Shows </a:t>
            </a:r>
            <a:r>
              <a:rPr lang="en-US" b="1" dirty="0">
                <a:latin typeface="Times New Roman" panose="02020603050405020304" pitchFamily="18" charset="0"/>
                <a:cs typeface="Times New Roman" panose="02020603050405020304" pitchFamily="18" charset="0"/>
              </a:rPr>
              <a:t>possible reason for delay</a:t>
            </a:r>
            <a:r>
              <a:rPr lang="en-US" dirty="0">
                <a:latin typeface="Times New Roman" panose="02020603050405020304" pitchFamily="18" charset="0"/>
                <a:cs typeface="Times New Roman" panose="02020603050405020304" pitchFamily="18" charset="0"/>
              </a:rPr>
              <a:t> (traffic, weather, peak hour)</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Implemented as a </a:t>
            </a:r>
            <a:r>
              <a:rPr lang="en-US" b="1" dirty="0">
                <a:latin typeface="Times New Roman" panose="02020603050405020304" pitchFamily="18" charset="0"/>
                <a:cs typeface="Times New Roman" panose="02020603050405020304" pitchFamily="18" charset="0"/>
              </a:rPr>
              <a:t>user-friendly web application</a:t>
            </a:r>
            <a:endParaRPr lang="en-US"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Helps commuters </a:t>
            </a:r>
            <a:r>
              <a:rPr lang="en-US" b="1" dirty="0">
                <a:latin typeface="Times New Roman" panose="02020603050405020304" pitchFamily="18" charset="0"/>
                <a:cs typeface="Times New Roman" panose="02020603050405020304" pitchFamily="18" charset="0"/>
              </a:rPr>
              <a:t>plan their journey better</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2521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97F093-02E1-612E-FD22-4133570E9AF0}"/>
              </a:ext>
            </a:extLst>
          </p:cNvPr>
          <p:cNvSpPr txBox="1"/>
          <p:nvPr/>
        </p:nvSpPr>
        <p:spPr>
          <a:xfrm>
            <a:off x="1475656" y="980728"/>
            <a:ext cx="6048672" cy="5078313"/>
          </a:xfrm>
          <a:prstGeom prst="rect">
            <a:avLst/>
          </a:prstGeom>
          <a:noFill/>
        </p:spPr>
        <p:txBody>
          <a:bodyPr wrap="square">
            <a:spAutoFit/>
          </a:bodyPr>
          <a:lstStyle/>
          <a:p>
            <a:pPr algn="ctr"/>
            <a:r>
              <a:rPr lang="en-US" b="1" dirty="0">
                <a:solidFill>
                  <a:schemeClr val="accent1"/>
                </a:solidFill>
                <a:latin typeface="Times New Roman" panose="02020603050405020304" pitchFamily="18" charset="0"/>
                <a:cs typeface="Times New Roman" panose="02020603050405020304" pitchFamily="18" charset="0"/>
              </a:rPr>
              <a:t>ADVANTAGES OF PROPOSED SYSTEM</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a:t>
            </a:r>
            <a:r>
              <a:rPr lang="en-US" b="1" dirty="0">
                <a:latin typeface="Times New Roman" panose="02020603050405020304" pitchFamily="18" charset="0"/>
                <a:cs typeface="Times New Roman" panose="02020603050405020304" pitchFamily="18" charset="0"/>
              </a:rPr>
              <a:t>accurate delay prediction</a:t>
            </a:r>
            <a:r>
              <a:rPr lang="en-US" dirty="0">
                <a:latin typeface="Times New Roman" panose="02020603050405020304" pitchFamily="18" charset="0"/>
                <a:cs typeface="Times New Roman" panose="02020603050405020304" pitchFamily="18" charset="0"/>
              </a:rPr>
              <a:t> using machine learning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Shows </a:t>
            </a:r>
            <a:r>
              <a:rPr lang="en-US" b="1" dirty="0">
                <a:latin typeface="Times New Roman" panose="02020603050405020304" pitchFamily="18" charset="0"/>
                <a:cs typeface="Times New Roman" panose="02020603050405020304" pitchFamily="18" charset="0"/>
              </a:rPr>
              <a:t>realistic arrival time</a:t>
            </a:r>
            <a:r>
              <a:rPr lang="en-US" dirty="0">
                <a:latin typeface="Times New Roman" panose="02020603050405020304" pitchFamily="18" charset="0"/>
                <a:cs typeface="Times New Roman" panose="02020603050405020304" pitchFamily="18" charset="0"/>
              </a:rPr>
              <a:t> instead of fixed schedules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Considers </a:t>
            </a:r>
            <a:r>
              <a:rPr lang="en-US" b="1" dirty="0">
                <a:latin typeface="Times New Roman" panose="02020603050405020304" pitchFamily="18" charset="0"/>
                <a:cs typeface="Times New Roman" panose="02020603050405020304" pitchFamily="18" charset="0"/>
              </a:rPr>
              <a:t>traffic, weather, and peak hours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Reduces </a:t>
            </a:r>
            <a:r>
              <a:rPr lang="en-US" b="1" dirty="0">
                <a:latin typeface="Times New Roman" panose="02020603050405020304" pitchFamily="18" charset="0"/>
                <a:cs typeface="Times New Roman" panose="02020603050405020304" pitchFamily="18" charset="0"/>
              </a:rPr>
              <a:t>travel uncertainty</a:t>
            </a:r>
            <a:r>
              <a:rPr lang="en-US" dirty="0">
                <a:latin typeface="Times New Roman" panose="02020603050405020304" pitchFamily="18" charset="0"/>
                <a:cs typeface="Times New Roman" panose="02020603050405020304" pitchFamily="18" charset="0"/>
              </a:rPr>
              <a:t> for commuters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Improves </a:t>
            </a:r>
            <a:r>
              <a:rPr lang="en-US" b="1" dirty="0">
                <a:latin typeface="Times New Roman" panose="02020603050405020304" pitchFamily="18" charset="0"/>
                <a:cs typeface="Times New Roman" panose="02020603050405020304" pitchFamily="18" charset="0"/>
              </a:rPr>
              <a:t>journey planning and time management</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Easy to use </a:t>
            </a:r>
            <a:r>
              <a:rPr lang="en-US" b="1" dirty="0">
                <a:latin typeface="Times New Roman" panose="02020603050405020304" pitchFamily="18" charset="0"/>
                <a:cs typeface="Times New Roman" panose="02020603050405020304" pitchFamily="18" charset="0"/>
              </a:rPr>
              <a:t>web-based application</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Supports </a:t>
            </a:r>
            <a:r>
              <a:rPr lang="en-US" b="1" dirty="0">
                <a:latin typeface="Times New Roman" panose="02020603050405020304" pitchFamily="18" charset="0"/>
                <a:cs typeface="Times New Roman" panose="02020603050405020304" pitchFamily="18" charset="0"/>
              </a:rPr>
              <a:t>multiple transport modes</a:t>
            </a:r>
            <a:r>
              <a:rPr lang="en-US" dirty="0">
                <a:latin typeface="Times New Roman" panose="02020603050405020304" pitchFamily="18" charset="0"/>
                <a:cs typeface="Times New Roman" panose="02020603050405020304" pitchFamily="18" charset="0"/>
              </a:rPr>
              <a:t> (bus, metro, train)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Useful for </a:t>
            </a:r>
            <a:r>
              <a:rPr lang="en-US" b="1" dirty="0">
                <a:latin typeface="Times New Roman" panose="02020603050405020304" pitchFamily="18" charset="0"/>
                <a:cs typeface="Times New Roman" panose="02020603050405020304" pitchFamily="18" charset="0"/>
              </a:rPr>
              <a:t>commuters and transport authorities</a:t>
            </a:r>
            <a:endParaRPr lang="en-US" dirty="0">
              <a:latin typeface="Times New Roman" panose="02020603050405020304" pitchFamily="18" charset="0"/>
              <a:cs typeface="Times New Roman" panose="02020603050405020304" pitchFamily="18" charset="0"/>
            </a:endParaRPr>
          </a:p>
          <a:p>
            <a:pPr algn="ctr"/>
            <a:r>
              <a:rPr lang="en-US" b="1" dirty="0">
                <a:solidFill>
                  <a:schemeClr val="accent1"/>
                </a:solidFill>
                <a:latin typeface="Times New Roman" panose="02020603050405020304" pitchFamily="18" charset="0"/>
                <a:cs typeface="Times New Roman" panose="02020603050405020304" pitchFamily="18" charset="0"/>
              </a:rPr>
              <a:t>LIMITATIONS OF PROPOSED SYSTEM</a:t>
            </a: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Prediction accuracy depends on </a:t>
            </a:r>
            <a:r>
              <a:rPr lang="en-US" b="1" dirty="0">
                <a:latin typeface="Times New Roman" panose="02020603050405020304" pitchFamily="18" charset="0"/>
                <a:cs typeface="Times New Roman" panose="02020603050405020304" pitchFamily="18" charset="0"/>
              </a:rPr>
              <a:t>quality of historical data</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Does not fully support </a:t>
            </a:r>
            <a:r>
              <a:rPr lang="en-US" b="1" dirty="0">
                <a:latin typeface="Times New Roman" panose="02020603050405020304" pitchFamily="18" charset="0"/>
                <a:cs typeface="Times New Roman" panose="02020603050405020304" pitchFamily="18" charset="0"/>
              </a:rPr>
              <a:t>real-time GPS tracking</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Live traffic data is </a:t>
            </a:r>
            <a:r>
              <a:rPr lang="en-US" b="1" dirty="0">
                <a:latin typeface="Times New Roman" panose="02020603050405020304" pitchFamily="18" charset="0"/>
                <a:cs typeface="Times New Roman" panose="02020603050405020304" pitchFamily="18" charset="0"/>
              </a:rPr>
              <a:t>not directly integrated</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Weather data accuracy depends on </a:t>
            </a:r>
            <a:r>
              <a:rPr lang="en-US" b="1" dirty="0">
                <a:latin typeface="Times New Roman" panose="02020603050405020304" pitchFamily="18" charset="0"/>
                <a:cs typeface="Times New Roman" panose="02020603050405020304" pitchFamily="18" charset="0"/>
              </a:rPr>
              <a:t>external APIs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Sudden events like </a:t>
            </a:r>
            <a:r>
              <a:rPr lang="en-US" b="1" dirty="0">
                <a:latin typeface="Times New Roman" panose="02020603050405020304" pitchFamily="18" charset="0"/>
                <a:cs typeface="Times New Roman" panose="02020603050405020304" pitchFamily="18" charset="0"/>
              </a:rPr>
              <a:t>accidents or roadblocks</a:t>
            </a:r>
            <a:r>
              <a:rPr lang="en-US" dirty="0">
                <a:latin typeface="Times New Roman" panose="02020603050405020304" pitchFamily="18" charset="0"/>
                <a:cs typeface="Times New Roman" panose="02020603050405020304" pitchFamily="18" charset="0"/>
              </a:rPr>
              <a:t> may reduce accuracy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Requires </a:t>
            </a:r>
            <a:r>
              <a:rPr lang="en-US" b="1" dirty="0">
                <a:latin typeface="Times New Roman" panose="02020603050405020304" pitchFamily="18" charset="0"/>
                <a:cs typeface="Times New Roman" panose="02020603050405020304" pitchFamily="18" charset="0"/>
              </a:rPr>
              <a:t>internet connection</a:t>
            </a:r>
            <a:r>
              <a:rPr lang="en-US" dirty="0">
                <a:latin typeface="Times New Roman" panose="02020603050405020304" pitchFamily="18" charset="0"/>
                <a:cs typeface="Times New Roman" panose="02020603050405020304" pitchFamily="18" charset="0"/>
              </a:rPr>
              <a:t> for web application usage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Performance may vary for </a:t>
            </a:r>
            <a:r>
              <a:rPr lang="en-US" b="1" dirty="0">
                <a:latin typeface="Times New Roman" panose="02020603050405020304" pitchFamily="18" charset="0"/>
                <a:cs typeface="Times New Roman" panose="02020603050405020304" pitchFamily="18" charset="0"/>
              </a:rPr>
              <a:t>new or rarely used routes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1102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C78ABC-C9B9-6D00-BC35-08DB73A08225}"/>
              </a:ext>
            </a:extLst>
          </p:cNvPr>
          <p:cNvSpPr txBox="1"/>
          <p:nvPr/>
        </p:nvSpPr>
        <p:spPr>
          <a:xfrm>
            <a:off x="1475656" y="908720"/>
            <a:ext cx="6696744" cy="5355312"/>
          </a:xfrm>
          <a:prstGeom prst="rect">
            <a:avLst/>
          </a:prstGeom>
          <a:noFill/>
        </p:spPr>
        <p:txBody>
          <a:bodyPr wrap="square">
            <a:spAutoFit/>
          </a:bodyPr>
          <a:lstStyle/>
          <a:p>
            <a:pPr algn="ctr">
              <a:buNone/>
            </a:pPr>
            <a:r>
              <a:rPr lang="en-US" b="1" dirty="0">
                <a:solidFill>
                  <a:schemeClr val="accent1"/>
                </a:solidFill>
                <a:latin typeface="Times New Roman" panose="02020603050405020304" pitchFamily="18" charset="0"/>
                <a:cs typeface="Times New Roman" panose="02020603050405020304" pitchFamily="18" charset="0"/>
              </a:rPr>
              <a:t>System Architecture </a:t>
            </a:r>
          </a:p>
          <a:p>
            <a:pPr>
              <a:buFont typeface="Arial" panose="020B0604020202020204" pitchFamily="34" charset="0"/>
              <a:buChar char="•"/>
            </a:pPr>
            <a:r>
              <a:rPr lang="en-US" b="1" dirty="0">
                <a:solidFill>
                  <a:srgbClr val="00B0F0"/>
                </a:solidFill>
                <a:latin typeface="Times New Roman" panose="02020603050405020304" pitchFamily="18" charset="0"/>
                <a:cs typeface="Times New Roman" panose="02020603050405020304" pitchFamily="18" charset="0"/>
              </a:rPr>
              <a:t>User Interface (Web Application)</a:t>
            </a:r>
            <a:endParaRPr lang="en-US" dirty="0">
              <a:solidFill>
                <a:srgbClr val="00B0F0"/>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User enters source, destination, transport type, and date</a:t>
            </a:r>
          </a:p>
          <a:p>
            <a:pPr>
              <a:buFont typeface="Arial" panose="020B0604020202020204" pitchFamily="34" charset="0"/>
              <a:buChar char="•"/>
            </a:pPr>
            <a:r>
              <a:rPr lang="en-US" b="1" dirty="0">
                <a:solidFill>
                  <a:srgbClr val="00B0F0"/>
                </a:solidFill>
                <a:latin typeface="Times New Roman" panose="02020603050405020304" pitchFamily="18" charset="0"/>
                <a:cs typeface="Times New Roman" panose="02020603050405020304" pitchFamily="18" charset="0"/>
              </a:rPr>
              <a:t>Flask Backend Server</a:t>
            </a:r>
            <a:endParaRPr lang="en-US" dirty="0">
              <a:solidFill>
                <a:srgbClr val="00B0F0"/>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Receives user input</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Handles request processing</a:t>
            </a:r>
          </a:p>
          <a:p>
            <a:pPr>
              <a:buFont typeface="Arial" panose="020B0604020202020204" pitchFamily="34" charset="0"/>
              <a:buChar char="•"/>
            </a:pPr>
            <a:r>
              <a:rPr lang="en-US" b="1" dirty="0">
                <a:solidFill>
                  <a:srgbClr val="00B0F0"/>
                </a:solidFill>
                <a:latin typeface="Times New Roman" panose="02020603050405020304" pitchFamily="18" charset="0"/>
                <a:cs typeface="Times New Roman" panose="02020603050405020304" pitchFamily="18" charset="0"/>
              </a:rPr>
              <a:t>Data Processing Module</a:t>
            </a:r>
            <a:endParaRPr lang="en-US" dirty="0">
              <a:solidFill>
                <a:srgbClr val="00B0F0"/>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Adds time, peak-hour, and weather features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Prepares input for ML model</a:t>
            </a:r>
          </a:p>
          <a:p>
            <a:pPr>
              <a:buFont typeface="Arial" panose="020B0604020202020204" pitchFamily="34" charset="0"/>
              <a:buChar char="•"/>
            </a:pPr>
            <a:r>
              <a:rPr lang="en-US" b="1" dirty="0">
                <a:solidFill>
                  <a:srgbClr val="00B0F0"/>
                </a:solidFill>
                <a:latin typeface="Times New Roman" panose="02020603050405020304" pitchFamily="18" charset="0"/>
                <a:cs typeface="Times New Roman" panose="02020603050405020304" pitchFamily="18" charset="0"/>
              </a:rPr>
              <a:t>Machine Learning Model (</a:t>
            </a:r>
            <a:r>
              <a:rPr lang="en-US" b="1" dirty="0" err="1">
                <a:solidFill>
                  <a:srgbClr val="00B0F0"/>
                </a:solidFill>
                <a:latin typeface="Times New Roman" panose="02020603050405020304" pitchFamily="18" charset="0"/>
                <a:cs typeface="Times New Roman" panose="02020603050405020304" pitchFamily="18" charset="0"/>
              </a:rPr>
              <a:t>XGBoost</a:t>
            </a:r>
            <a:r>
              <a:rPr lang="en-US" b="1" dirty="0">
                <a:solidFill>
                  <a:srgbClr val="00B0F0"/>
                </a:solidFill>
                <a:latin typeface="Times New Roman" panose="02020603050405020304" pitchFamily="18" charset="0"/>
                <a:cs typeface="Times New Roman" panose="02020603050405020304" pitchFamily="18" charset="0"/>
              </a:rPr>
              <a:t>)</a:t>
            </a:r>
            <a:endParaRPr lang="en-US" dirty="0">
              <a:solidFill>
                <a:srgbClr val="00B0F0"/>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Predicts </a:t>
            </a:r>
            <a:r>
              <a:rPr lang="en-US" b="1" dirty="0">
                <a:latin typeface="Times New Roman" panose="02020603050405020304" pitchFamily="18" charset="0"/>
                <a:cs typeface="Times New Roman" panose="02020603050405020304" pitchFamily="18" charset="0"/>
              </a:rPr>
              <a:t>delay duration in minutes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Learns from historical transport data</a:t>
            </a:r>
          </a:p>
          <a:p>
            <a:pPr>
              <a:buFont typeface="Arial" panose="020B0604020202020204" pitchFamily="34" charset="0"/>
              <a:buChar char="•"/>
            </a:pPr>
            <a:r>
              <a:rPr lang="en-US" b="1" dirty="0">
                <a:solidFill>
                  <a:srgbClr val="00B0F0"/>
                </a:solidFill>
                <a:latin typeface="Times New Roman" panose="02020603050405020304" pitchFamily="18" charset="0"/>
                <a:cs typeface="Times New Roman" panose="02020603050405020304" pitchFamily="18" charset="0"/>
              </a:rPr>
              <a:t>SQLite Database</a:t>
            </a:r>
            <a:endParaRPr lang="en-US" dirty="0">
              <a:solidFill>
                <a:srgbClr val="00B0F0"/>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Stores transport schedules, routes, and delay data</a:t>
            </a:r>
          </a:p>
          <a:p>
            <a:pPr>
              <a:buFont typeface="Arial" panose="020B0604020202020204" pitchFamily="34" charset="0"/>
              <a:buChar char="•"/>
            </a:pPr>
            <a:r>
              <a:rPr lang="en-US" b="1" dirty="0">
                <a:solidFill>
                  <a:srgbClr val="00B0F0"/>
                </a:solidFill>
                <a:latin typeface="Times New Roman" panose="02020603050405020304" pitchFamily="18" charset="0"/>
                <a:cs typeface="Times New Roman" panose="02020603050405020304" pitchFamily="18" charset="0"/>
              </a:rPr>
              <a:t>Weather API</a:t>
            </a:r>
            <a:endParaRPr lang="en-US" dirty="0">
              <a:solidFill>
                <a:srgbClr val="00B0F0"/>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weather information used in prediction</a:t>
            </a:r>
          </a:p>
          <a:p>
            <a:pPr>
              <a:buFont typeface="Arial" panose="020B0604020202020204" pitchFamily="34" charset="0"/>
              <a:buChar char="•"/>
            </a:pPr>
            <a:r>
              <a:rPr lang="en-US" b="1" dirty="0">
                <a:solidFill>
                  <a:srgbClr val="00B0F0"/>
                </a:solidFill>
                <a:latin typeface="Times New Roman" panose="02020603050405020304" pitchFamily="18" charset="0"/>
                <a:cs typeface="Times New Roman" panose="02020603050405020304" pitchFamily="18" charset="0"/>
              </a:rPr>
              <a:t>Result Module</a:t>
            </a:r>
            <a:endParaRPr lang="en-US" dirty="0">
              <a:solidFill>
                <a:srgbClr val="00B0F0"/>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Calculates </a:t>
            </a:r>
            <a:r>
              <a:rPr lang="en-US" b="1" dirty="0">
                <a:latin typeface="Times New Roman" panose="02020603050405020304" pitchFamily="18" charset="0"/>
                <a:cs typeface="Times New Roman" panose="02020603050405020304" pitchFamily="18" charset="0"/>
              </a:rPr>
              <a:t>expected arrival time</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Displays delay and reason to user</a:t>
            </a:r>
          </a:p>
        </p:txBody>
      </p:sp>
    </p:spTree>
    <p:extLst>
      <p:ext uri="{BB962C8B-B14F-4D97-AF65-F5344CB8AC3E}">
        <p14:creationId xmlns:p14="http://schemas.microsoft.com/office/powerpoint/2010/main" val="475541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938142-4B38-0FAD-7943-00FD94508239}"/>
              </a:ext>
            </a:extLst>
          </p:cNvPr>
          <p:cNvPicPr>
            <a:picLocks noChangeAspect="1"/>
          </p:cNvPicPr>
          <p:nvPr/>
        </p:nvPicPr>
        <p:blipFill>
          <a:blip r:embed="rId2"/>
          <a:stretch>
            <a:fillRect/>
          </a:stretch>
        </p:blipFill>
        <p:spPr>
          <a:xfrm>
            <a:off x="971600" y="1412777"/>
            <a:ext cx="6984776" cy="4536504"/>
          </a:xfrm>
          <a:prstGeom prst="rect">
            <a:avLst/>
          </a:prstGeom>
          <a:ln>
            <a:noFill/>
          </a:ln>
          <a:effectLst>
            <a:softEdge rad="112500"/>
          </a:effectLst>
        </p:spPr>
      </p:pic>
    </p:spTree>
    <p:extLst>
      <p:ext uri="{BB962C8B-B14F-4D97-AF65-F5344CB8AC3E}">
        <p14:creationId xmlns:p14="http://schemas.microsoft.com/office/powerpoint/2010/main" val="1053958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6088BB-DCCB-F2B9-7140-49AFE202E736}"/>
              </a:ext>
            </a:extLst>
          </p:cNvPr>
          <p:cNvSpPr txBox="1"/>
          <p:nvPr/>
        </p:nvSpPr>
        <p:spPr>
          <a:xfrm>
            <a:off x="1448780" y="1556792"/>
            <a:ext cx="6147556" cy="3228063"/>
          </a:xfrm>
          <a:prstGeom prst="rect">
            <a:avLst/>
          </a:prstGeom>
          <a:noFill/>
        </p:spPr>
        <p:txBody>
          <a:bodyPr wrap="square">
            <a:spAutoFit/>
          </a:bodyPr>
          <a:lstStyle/>
          <a:p>
            <a:pPr algn="ctr">
              <a:buNone/>
            </a:pPr>
            <a:r>
              <a:rPr lang="en-US" b="1" dirty="0">
                <a:solidFill>
                  <a:schemeClr val="accent1"/>
                </a:solidFill>
                <a:latin typeface="Times New Roman" panose="02020603050405020304" pitchFamily="18" charset="0"/>
                <a:cs typeface="Times New Roman" panose="02020603050405020304" pitchFamily="18" charset="0"/>
              </a:rPr>
              <a:t>DATA COLLECTION</a:t>
            </a:r>
            <a:endParaRPr lang="en-US" dirty="0">
              <a:solidFill>
                <a:schemeClr val="accent1"/>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Collected </a:t>
            </a:r>
            <a:r>
              <a:rPr lang="en-US" b="1" dirty="0">
                <a:latin typeface="Times New Roman" panose="02020603050405020304" pitchFamily="18" charset="0"/>
                <a:cs typeface="Times New Roman" panose="02020603050405020304" pitchFamily="18" charset="0"/>
              </a:rPr>
              <a:t>public transport schedule data</a:t>
            </a:r>
            <a:r>
              <a:rPr lang="en-US" dirty="0">
                <a:latin typeface="Times New Roman" panose="02020603050405020304" pitchFamily="18" charset="0"/>
                <a:cs typeface="Times New Roman" panose="02020603050405020304" pitchFamily="18" charset="0"/>
              </a:rPr>
              <a:t> (bus, metro, train)</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Includes </a:t>
            </a:r>
            <a:r>
              <a:rPr lang="en-US" b="1" dirty="0">
                <a:latin typeface="Times New Roman" panose="02020603050405020304" pitchFamily="18" charset="0"/>
                <a:cs typeface="Times New Roman" panose="02020603050405020304" pitchFamily="18" charset="0"/>
              </a:rPr>
              <a:t>source, destination, route details</a:t>
            </a:r>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a:t>
            </a:r>
            <a:r>
              <a:rPr lang="en-US" b="1" dirty="0">
                <a:latin typeface="Times New Roman" panose="02020603050405020304" pitchFamily="18" charset="0"/>
                <a:cs typeface="Times New Roman" panose="02020603050405020304" pitchFamily="18" charset="0"/>
              </a:rPr>
              <a:t>scheduled arrival and departure time</a:t>
            </a:r>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Collects </a:t>
            </a:r>
            <a:r>
              <a:rPr lang="en-US" b="1" dirty="0">
                <a:latin typeface="Times New Roman" panose="02020603050405020304" pitchFamily="18" charset="0"/>
                <a:cs typeface="Times New Roman" panose="02020603050405020304" pitchFamily="18" charset="0"/>
              </a:rPr>
              <a:t>time-based data</a:t>
            </a:r>
            <a:r>
              <a:rPr lang="en-US" dirty="0">
                <a:latin typeface="Times New Roman" panose="02020603050405020304" pitchFamily="18" charset="0"/>
                <a:cs typeface="Times New Roman" panose="02020603050405020304" pitchFamily="18" charset="0"/>
              </a:rPr>
              <a:t> (hour, day, peak hour)</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Includes </a:t>
            </a:r>
            <a:r>
              <a:rPr lang="en-US" b="1" dirty="0">
                <a:latin typeface="Times New Roman" panose="02020603050405020304" pitchFamily="18" charset="0"/>
                <a:cs typeface="Times New Roman" panose="02020603050405020304" pitchFamily="18" charset="0"/>
              </a:rPr>
              <a:t>weather data</a:t>
            </a:r>
            <a:r>
              <a:rPr lang="en-US" dirty="0">
                <a:latin typeface="Times New Roman" panose="02020603050405020304" pitchFamily="18" charset="0"/>
                <a:cs typeface="Times New Roman" panose="02020603050405020304" pitchFamily="18" charset="0"/>
              </a:rPr>
              <a:t> (clear, rainy, cloudy, etc.)</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Calculates </a:t>
            </a:r>
            <a:r>
              <a:rPr lang="en-US" b="1" dirty="0">
                <a:latin typeface="Times New Roman" panose="02020603050405020304" pitchFamily="18" charset="0"/>
                <a:cs typeface="Times New Roman" panose="02020603050405020304" pitchFamily="18" charset="0"/>
              </a:rPr>
              <a:t>delay in minutes</a:t>
            </a:r>
            <a:r>
              <a:rPr lang="en-US" dirty="0">
                <a:latin typeface="Times New Roman" panose="02020603050405020304" pitchFamily="18" charset="0"/>
                <a:cs typeface="Times New Roman" panose="02020603050405020304" pitchFamily="18" charset="0"/>
              </a:rPr>
              <a:t> from actual vs scheduled time</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represents </a:t>
            </a:r>
            <a:r>
              <a:rPr lang="en-US" b="1" dirty="0">
                <a:latin typeface="Times New Roman" panose="02020603050405020304" pitchFamily="18" charset="0"/>
                <a:cs typeface="Times New Roman" panose="02020603050405020304" pitchFamily="18" charset="0"/>
              </a:rPr>
              <a:t>realistic urban travel conditions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3189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A7D316-C12E-1F56-B363-C7DBEB4750AD}"/>
              </a:ext>
            </a:extLst>
          </p:cNvPr>
          <p:cNvSpPr txBox="1"/>
          <p:nvPr/>
        </p:nvSpPr>
        <p:spPr>
          <a:xfrm>
            <a:off x="791580" y="1052736"/>
            <a:ext cx="7128792" cy="3970318"/>
          </a:xfrm>
          <a:prstGeom prst="rect">
            <a:avLst/>
          </a:prstGeom>
          <a:noFill/>
        </p:spPr>
        <p:txBody>
          <a:bodyPr wrap="square">
            <a:spAutoFit/>
          </a:bodyPr>
          <a:lstStyle/>
          <a:p>
            <a:pPr algn="ctr">
              <a:buNone/>
            </a:pPr>
            <a:r>
              <a:rPr lang="en-US" b="1" dirty="0">
                <a:solidFill>
                  <a:srgbClr val="00B050"/>
                </a:solidFill>
                <a:latin typeface="Times New Roman" panose="02020603050405020304" pitchFamily="18" charset="0"/>
                <a:cs typeface="Times New Roman" panose="02020603050405020304" pitchFamily="18" charset="0"/>
              </a:rPr>
              <a:t>METHODOLOGY</a:t>
            </a:r>
          </a:p>
          <a:p>
            <a:pPr algn="just">
              <a:buNone/>
            </a:pPr>
            <a:r>
              <a:rPr lang="en-US" dirty="0">
                <a:latin typeface="Times New Roman" panose="02020603050405020304" pitchFamily="18" charset="0"/>
                <a:cs typeface="Times New Roman" panose="02020603050405020304" pitchFamily="18" charset="0"/>
              </a:rPr>
              <a:t>The methodology describes the step-by-step process followed to design and implement the </a:t>
            </a:r>
            <a:r>
              <a:rPr lang="en-US" b="1" dirty="0">
                <a:latin typeface="Times New Roman" panose="02020603050405020304" pitchFamily="18" charset="0"/>
                <a:cs typeface="Times New Roman" panose="02020603050405020304" pitchFamily="18" charset="0"/>
              </a:rPr>
              <a:t>Public Transport Delay Prediction and Scheduling Analytics System</a:t>
            </a:r>
            <a:r>
              <a:rPr lang="en-US" dirty="0">
                <a:latin typeface="Times New Roman" panose="02020603050405020304" pitchFamily="18" charset="0"/>
                <a:cs typeface="Times New Roman" panose="02020603050405020304" pitchFamily="18" charset="0"/>
              </a:rPr>
              <a:t>. The proposed system uses a </a:t>
            </a:r>
            <a:r>
              <a:rPr lang="en-US" b="1" dirty="0">
                <a:latin typeface="Times New Roman" panose="02020603050405020304" pitchFamily="18" charset="0"/>
                <a:cs typeface="Times New Roman" panose="02020603050405020304" pitchFamily="18" charset="0"/>
              </a:rPr>
              <a:t>machine learning–based approach</a:t>
            </a:r>
            <a:r>
              <a:rPr lang="en-US" dirty="0">
                <a:latin typeface="Times New Roman" panose="02020603050405020304" pitchFamily="18" charset="0"/>
                <a:cs typeface="Times New Roman" panose="02020603050405020304" pitchFamily="18" charset="0"/>
              </a:rPr>
              <a:t> to predict delay duration and provide realistic arrival times by analyzing historical transport data along with contextual factors such as time and weather.</a:t>
            </a:r>
          </a:p>
          <a:p>
            <a:pPr algn="just">
              <a:buNone/>
            </a:pPr>
            <a:endParaRPr lang="en-US" dirty="0">
              <a:latin typeface="Times New Roman" panose="02020603050405020304" pitchFamily="18" charset="0"/>
              <a:cs typeface="Times New Roman" panose="02020603050405020304" pitchFamily="18" charset="0"/>
            </a:endParaRPr>
          </a:p>
          <a:p>
            <a:pPr algn="just">
              <a:buNone/>
            </a:pPr>
            <a:endParaRPr lang="en-US"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pPr algn="just">
              <a:buNone/>
            </a:pP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6C56D83-2F3B-5590-0286-AE7893107040}"/>
              </a:ext>
            </a:extLst>
          </p:cNvPr>
          <p:cNvPicPr>
            <a:picLocks noChangeAspect="1"/>
          </p:cNvPicPr>
          <p:nvPr/>
        </p:nvPicPr>
        <p:blipFill>
          <a:blip r:embed="rId2"/>
          <a:srcRect t="32000" b="25334"/>
          <a:stretch>
            <a:fillRect/>
          </a:stretch>
        </p:blipFill>
        <p:spPr>
          <a:xfrm>
            <a:off x="827584" y="3212976"/>
            <a:ext cx="7056784" cy="2880320"/>
          </a:xfrm>
          <a:prstGeom prst="rect">
            <a:avLst/>
          </a:prstGeom>
        </p:spPr>
      </p:pic>
    </p:spTree>
    <p:extLst>
      <p:ext uri="{BB962C8B-B14F-4D97-AF65-F5344CB8AC3E}">
        <p14:creationId xmlns:p14="http://schemas.microsoft.com/office/powerpoint/2010/main" val="3335407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01AE73C-E6EC-CE34-0229-178FCBF64DE8}"/>
              </a:ext>
            </a:extLst>
          </p:cNvPr>
          <p:cNvSpPr txBox="1"/>
          <p:nvPr/>
        </p:nvSpPr>
        <p:spPr>
          <a:xfrm>
            <a:off x="755576" y="669872"/>
            <a:ext cx="7992888" cy="6186309"/>
          </a:xfrm>
          <a:prstGeom prst="rect">
            <a:avLst/>
          </a:prstGeom>
          <a:noFill/>
        </p:spPr>
        <p:txBody>
          <a:bodyPr wrap="square">
            <a:spAutoFit/>
          </a:bodyPr>
          <a:lstStyle/>
          <a:p>
            <a:pPr algn="ctr"/>
            <a:r>
              <a:rPr lang="en-US" b="1" dirty="0">
                <a:solidFill>
                  <a:srgbClr val="00B0F0"/>
                </a:solidFill>
                <a:latin typeface="Times New Roman" panose="02020603050405020304" pitchFamily="18" charset="0"/>
                <a:cs typeface="Times New Roman" panose="02020603050405020304" pitchFamily="18" charset="0"/>
              </a:rPr>
              <a:t>Step 1: Data Collection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Transport-related data is collected for </a:t>
            </a:r>
            <a:r>
              <a:rPr lang="en-US" b="1" dirty="0">
                <a:latin typeface="Times New Roman" panose="02020603050405020304" pitchFamily="18" charset="0"/>
                <a:cs typeface="Times New Roman" panose="02020603050405020304" pitchFamily="18" charset="0"/>
              </a:rPr>
              <a:t>bus, metro, and train services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Includes </a:t>
            </a:r>
            <a:r>
              <a:rPr lang="en-US" b="1" dirty="0">
                <a:latin typeface="Times New Roman" panose="02020603050405020304" pitchFamily="18" charset="0"/>
                <a:cs typeface="Times New Roman" panose="02020603050405020304" pitchFamily="18" charset="0"/>
              </a:rPr>
              <a:t>source, destination, route, and transport type</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Scheduled arrival and departure times are collected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Weather information such as </a:t>
            </a:r>
            <a:r>
              <a:rPr lang="en-US" b="1" dirty="0">
                <a:latin typeface="Times New Roman" panose="02020603050405020304" pitchFamily="18" charset="0"/>
                <a:cs typeface="Times New Roman" panose="02020603050405020304" pitchFamily="18" charset="0"/>
              </a:rPr>
              <a:t>clear, cloudy, rainy conditions</a:t>
            </a:r>
            <a:r>
              <a:rPr lang="en-US" dirty="0">
                <a:latin typeface="Times New Roman" panose="02020603050405020304" pitchFamily="18" charset="0"/>
                <a:cs typeface="Times New Roman" panose="02020603050405020304" pitchFamily="18" charset="0"/>
              </a:rPr>
              <a:t> is included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Time-based attributes like </a:t>
            </a:r>
            <a:r>
              <a:rPr lang="en-US" b="1" dirty="0">
                <a:latin typeface="Times New Roman" panose="02020603050405020304" pitchFamily="18" charset="0"/>
                <a:cs typeface="Times New Roman" panose="02020603050405020304" pitchFamily="18" charset="0"/>
              </a:rPr>
              <a:t>hour of travel, day, and peak hour</a:t>
            </a:r>
            <a:r>
              <a:rPr lang="en-US" dirty="0">
                <a:latin typeface="Times New Roman" panose="02020603050405020304" pitchFamily="18" charset="0"/>
                <a:cs typeface="Times New Roman" panose="02020603050405020304" pitchFamily="18" charset="0"/>
              </a:rPr>
              <a:t> are considered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data represents real-world urban transport scenarios</a:t>
            </a:r>
            <a:r>
              <a:rPr lang="en-US" dirty="0"/>
              <a:t>.</a:t>
            </a:r>
            <a:endParaRPr lang="en-US" b="1" dirty="0">
              <a:latin typeface="Times New Roman" panose="02020603050405020304" pitchFamily="18" charset="0"/>
              <a:cs typeface="Times New Roman" panose="02020603050405020304" pitchFamily="18" charset="0"/>
            </a:endParaRPr>
          </a:p>
          <a:p>
            <a:pPr algn="ctr">
              <a:buNone/>
            </a:pPr>
            <a:r>
              <a:rPr lang="en-US" b="1" dirty="0">
                <a:solidFill>
                  <a:srgbClr val="00B0F0"/>
                </a:solidFill>
                <a:latin typeface="Times New Roman" panose="02020603050405020304" pitchFamily="18" charset="0"/>
                <a:cs typeface="Times New Roman" panose="02020603050405020304" pitchFamily="18" charset="0"/>
              </a:rPr>
              <a:t>Step 2: Data Preprocessing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Missing and inconsistent data is cleaned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Duplicate records are removed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Categorical values (transport type, weather) are converted into numerical format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Date and time values are transformed into useful features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is standardized to make it suitable for machine learning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step ensures the dataset is clean and reliable.</a:t>
            </a:r>
          </a:p>
          <a:p>
            <a:pPr algn="ctr"/>
            <a:r>
              <a:rPr lang="en-US" b="1" dirty="0">
                <a:solidFill>
                  <a:srgbClr val="00B0F0"/>
                </a:solidFill>
                <a:latin typeface="Times New Roman" panose="02020603050405020304" pitchFamily="18" charset="0"/>
                <a:cs typeface="Times New Roman" panose="02020603050405020304" pitchFamily="18" charset="0"/>
              </a:rPr>
              <a:t>Step 3: Feature Engineering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Important features are derived to improve prediction accuracy</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Peak hour indicator</a:t>
            </a:r>
            <a:r>
              <a:rPr lang="en-US" dirty="0">
                <a:latin typeface="Times New Roman" panose="02020603050405020304" pitchFamily="18" charset="0"/>
                <a:cs typeface="Times New Roman" panose="02020603050405020304" pitchFamily="18" charset="0"/>
              </a:rPr>
              <a:t> is added</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Weekend or weekday flag</a:t>
            </a:r>
            <a:r>
              <a:rPr lang="en-US" dirty="0">
                <a:latin typeface="Times New Roman" panose="02020603050405020304" pitchFamily="18" charset="0"/>
                <a:cs typeface="Times New Roman" panose="02020603050405020304" pitchFamily="18" charset="0"/>
              </a:rPr>
              <a:t> is included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Traffic impact is estimated using time-based patterns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Weather impact features are created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Feature engineering helps the model learn delay patterns more effectively.</a:t>
            </a:r>
          </a:p>
          <a:p>
            <a:pPr>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91418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02E4A9-817F-B8B2-7902-2B557D8EDD27}"/>
              </a:ext>
            </a:extLst>
          </p:cNvPr>
          <p:cNvSpPr txBox="1"/>
          <p:nvPr/>
        </p:nvSpPr>
        <p:spPr>
          <a:xfrm>
            <a:off x="1187624" y="1028343"/>
            <a:ext cx="6912768" cy="4801314"/>
          </a:xfrm>
          <a:prstGeom prst="rect">
            <a:avLst/>
          </a:prstGeom>
          <a:noFill/>
        </p:spPr>
        <p:txBody>
          <a:bodyPr wrap="square">
            <a:spAutoFit/>
          </a:bodyPr>
          <a:lstStyle/>
          <a:p>
            <a:pPr algn="ctr">
              <a:buNone/>
            </a:pPr>
            <a:r>
              <a:rPr lang="en-US" b="1" dirty="0">
                <a:solidFill>
                  <a:srgbClr val="00B0F0"/>
                </a:solidFill>
                <a:latin typeface="Times New Roman" panose="02020603050405020304" pitchFamily="18" charset="0"/>
                <a:cs typeface="Times New Roman" panose="02020603050405020304" pitchFamily="18" charset="0"/>
              </a:rPr>
              <a:t>Step 4: Model Selection and Training</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machine learning regression model</a:t>
            </a:r>
            <a:r>
              <a:rPr lang="en-US" dirty="0">
                <a:latin typeface="Times New Roman" panose="02020603050405020304" pitchFamily="18" charset="0"/>
                <a:cs typeface="Times New Roman" panose="02020603050405020304" pitchFamily="18" charset="0"/>
              </a:rPr>
              <a:t> is selected</a:t>
            </a:r>
          </a:p>
          <a:p>
            <a:pPr marL="285750" indent="-285750" algn="just">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XGBoost</a:t>
            </a:r>
            <a:r>
              <a:rPr lang="en-US" b="1" dirty="0">
                <a:latin typeface="Times New Roman" panose="02020603050405020304" pitchFamily="18" charset="0"/>
                <a:cs typeface="Times New Roman" panose="02020603050405020304" pitchFamily="18" charset="0"/>
              </a:rPr>
              <a:t> algorithm</a:t>
            </a:r>
            <a:r>
              <a:rPr lang="en-US" dirty="0">
                <a:latin typeface="Times New Roman" panose="02020603050405020304" pitchFamily="18" charset="0"/>
                <a:cs typeface="Times New Roman" panose="02020603050405020304" pitchFamily="18" charset="0"/>
              </a:rPr>
              <a:t> is used due to its high accuracy and efficiency</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dataset is split into </a:t>
            </a:r>
            <a:r>
              <a:rPr lang="en-US" b="1" dirty="0">
                <a:latin typeface="Times New Roman" panose="02020603050405020304" pitchFamily="18" charset="0"/>
                <a:cs typeface="Times New Roman" panose="02020603050405020304" pitchFamily="18" charset="0"/>
              </a:rPr>
              <a:t>training and testing sets</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model is trained using historical transport data</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Hyperparameters are tuned to improve performance</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trained model learns the relationship between input features and delay duration.</a:t>
            </a:r>
          </a:p>
          <a:p>
            <a:pPr algn="ctr"/>
            <a:r>
              <a:rPr lang="en-US" b="1" dirty="0">
                <a:solidFill>
                  <a:srgbClr val="00B0F0"/>
                </a:solidFill>
                <a:latin typeface="Times New Roman" panose="02020603050405020304" pitchFamily="18" charset="0"/>
                <a:cs typeface="Times New Roman" panose="02020603050405020304" pitchFamily="18" charset="0"/>
              </a:rPr>
              <a:t>Step 5: Model Evaluation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Model performance is evaluated using standard metrics</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Mean Absolute Error (MAE)</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Root Mean Squared Error (RMSE)</a:t>
            </a:r>
            <a:r>
              <a:rPr lang="en-US" dirty="0">
                <a:latin typeface="Times New Roman" panose="02020603050405020304" pitchFamily="18" charset="0"/>
                <a:cs typeface="Times New Roman" panose="02020603050405020304" pitchFamily="18" charset="0"/>
              </a:rPr>
              <a:t> are calculated</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Delay predictions are classified into </a:t>
            </a:r>
            <a:r>
              <a:rPr lang="en-US" b="1" dirty="0">
                <a:latin typeface="Times New Roman" panose="02020603050405020304" pitchFamily="18" charset="0"/>
                <a:cs typeface="Times New Roman" panose="02020603050405020304" pitchFamily="18" charset="0"/>
              </a:rPr>
              <a:t>on-time, minor delay, and major delay</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Accuracy is verified on unseen test data</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step ensures the model gives reliable predictions.</a:t>
            </a:r>
          </a:p>
          <a:p>
            <a:pPr algn="just">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6822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F8D956-5D9A-D5AD-F8EE-20AB91E71238}"/>
              </a:ext>
            </a:extLst>
          </p:cNvPr>
          <p:cNvSpPr txBox="1"/>
          <p:nvPr/>
        </p:nvSpPr>
        <p:spPr>
          <a:xfrm>
            <a:off x="1295636" y="1412776"/>
            <a:ext cx="6552728" cy="3970318"/>
          </a:xfrm>
          <a:prstGeom prst="rect">
            <a:avLst/>
          </a:prstGeom>
          <a:noFill/>
        </p:spPr>
        <p:txBody>
          <a:bodyPr wrap="square">
            <a:spAutoFit/>
          </a:bodyPr>
          <a:lstStyle/>
          <a:p>
            <a:pPr algn="ctr">
              <a:buNone/>
            </a:pPr>
            <a:r>
              <a:rPr lang="en-US" b="1" dirty="0">
                <a:solidFill>
                  <a:srgbClr val="00B0F0"/>
                </a:solidFill>
                <a:latin typeface="Times New Roman" panose="02020603050405020304" pitchFamily="18" charset="0"/>
                <a:cs typeface="Times New Roman" panose="02020603050405020304" pitchFamily="18" charset="0"/>
              </a:rPr>
              <a:t>Step 6: System Integration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trained model is integrated into a </a:t>
            </a:r>
            <a:r>
              <a:rPr lang="en-US" b="1" dirty="0">
                <a:latin typeface="Times New Roman" panose="02020603050405020304" pitchFamily="18" charset="0"/>
                <a:cs typeface="Times New Roman" panose="02020603050405020304" pitchFamily="18" charset="0"/>
              </a:rPr>
              <a:t>Flask-based web application</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SQLite database is used to store transport and prediction data</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Weather API is connected to fetch environmental data</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Backend processes user input and sends it to the ML model</a:t>
            </a:r>
          </a:p>
          <a:p>
            <a:pPr>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lgn="ctr">
              <a:buNone/>
            </a:pPr>
            <a:r>
              <a:rPr lang="en-US" b="1" dirty="0">
                <a:solidFill>
                  <a:srgbClr val="00B0F0"/>
                </a:solidFill>
                <a:latin typeface="Times New Roman" panose="02020603050405020304" pitchFamily="18" charset="0"/>
                <a:cs typeface="Times New Roman" panose="02020603050405020304" pitchFamily="18" charset="0"/>
              </a:rPr>
              <a:t>Step 7: Prediction and Output Display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User enters travel details through the web interface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processes the input in real time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machine learning model predicts </a:t>
            </a:r>
            <a:r>
              <a:rPr lang="en-US" b="1" dirty="0">
                <a:latin typeface="Times New Roman" panose="02020603050405020304" pitchFamily="18" charset="0"/>
                <a:cs typeface="Times New Roman" panose="02020603050405020304" pitchFamily="18" charset="0"/>
              </a:rPr>
              <a:t>delay duration</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Expected arrival time is calculated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Results are displayed clearly to the user</a:t>
            </a:r>
          </a:p>
        </p:txBody>
      </p:sp>
    </p:spTree>
    <p:extLst>
      <p:ext uri="{BB962C8B-B14F-4D97-AF65-F5344CB8AC3E}">
        <p14:creationId xmlns:p14="http://schemas.microsoft.com/office/powerpoint/2010/main" val="31152161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8F53A0-5953-A167-DFE6-BB20C17756AB}"/>
              </a:ext>
            </a:extLst>
          </p:cNvPr>
          <p:cNvSpPr txBox="1"/>
          <p:nvPr/>
        </p:nvSpPr>
        <p:spPr>
          <a:xfrm>
            <a:off x="395536" y="2636912"/>
            <a:ext cx="4464496" cy="2585323"/>
          </a:xfrm>
          <a:prstGeom prst="rect">
            <a:avLst/>
          </a:prstGeom>
          <a:noFill/>
        </p:spPr>
        <p:txBody>
          <a:bodyPr wrap="square">
            <a:spAutoFit/>
          </a:bodyPr>
          <a:lstStyle/>
          <a:p>
            <a:pPr>
              <a:buNone/>
            </a:pPr>
            <a:r>
              <a:rPr lang="en-US" b="1" dirty="0">
                <a:solidFill>
                  <a:srgbClr val="00B0F0"/>
                </a:solidFill>
                <a:latin typeface="Times New Roman" panose="02020603050405020304" pitchFamily="18" charset="0"/>
                <a:cs typeface="Times New Roman" panose="02020603050405020304" pitchFamily="18" charset="0"/>
              </a:rPr>
              <a:t>1. Technology Stack Used</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Programming Language:</a:t>
            </a:r>
            <a:r>
              <a:rPr lang="en-US" dirty="0">
                <a:latin typeface="Times New Roman" panose="02020603050405020304" pitchFamily="18" charset="0"/>
                <a:cs typeface="Times New Roman" panose="02020603050405020304" pitchFamily="18" charset="0"/>
              </a:rPr>
              <a:t> Python</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Machine Learning Libraries:</a:t>
            </a:r>
            <a:r>
              <a:rPr lang="en-US" dirty="0">
                <a:latin typeface="Times New Roman" panose="02020603050405020304" pitchFamily="18" charset="0"/>
                <a:cs typeface="Times New Roman" panose="02020603050405020304" pitchFamily="18" charset="0"/>
              </a:rPr>
              <a:t> Scikit-learn, </a:t>
            </a:r>
            <a:r>
              <a:rPr lang="en-US" dirty="0" err="1">
                <a:latin typeface="Times New Roman" panose="02020603050405020304" pitchFamily="18" charset="0"/>
                <a:cs typeface="Times New Roman" panose="02020603050405020304" pitchFamily="18" charset="0"/>
              </a:rPr>
              <a:t>XGBoost</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Web Framework:</a:t>
            </a:r>
            <a:r>
              <a:rPr lang="en-US" dirty="0">
                <a:latin typeface="Times New Roman" panose="02020603050405020304" pitchFamily="18" charset="0"/>
                <a:cs typeface="Times New Roman" panose="02020603050405020304" pitchFamily="18" charset="0"/>
              </a:rPr>
              <a:t> Flask</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Database:</a:t>
            </a:r>
            <a:r>
              <a:rPr lang="en-US" dirty="0">
                <a:latin typeface="Times New Roman" panose="02020603050405020304" pitchFamily="18" charset="0"/>
                <a:cs typeface="Times New Roman" panose="02020603050405020304" pitchFamily="18" charset="0"/>
              </a:rPr>
              <a:t> SQLite</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Frontend Technologies:</a:t>
            </a:r>
            <a:r>
              <a:rPr lang="en-US" dirty="0">
                <a:latin typeface="Times New Roman" panose="02020603050405020304" pitchFamily="18" charset="0"/>
                <a:cs typeface="Times New Roman" panose="02020603050405020304" pitchFamily="18" charset="0"/>
              </a:rPr>
              <a:t> HTML, CSS, JavaScript</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API Used:</a:t>
            </a:r>
            <a:r>
              <a:rPr lang="en-US" dirty="0">
                <a:latin typeface="Times New Roman" panose="02020603050405020304" pitchFamily="18" charset="0"/>
                <a:cs typeface="Times New Roman" panose="02020603050405020304" pitchFamily="18" charset="0"/>
              </a:rPr>
              <a:t> Weather API</a:t>
            </a:r>
          </a:p>
        </p:txBody>
      </p:sp>
      <p:pic>
        <p:nvPicPr>
          <p:cNvPr id="4" name="Picture 3">
            <a:extLst>
              <a:ext uri="{FF2B5EF4-FFF2-40B4-BE49-F238E27FC236}">
                <a16:creationId xmlns:a16="http://schemas.microsoft.com/office/drawing/2014/main" id="{65D2C023-4F9C-ADBC-0508-2E6B0908B378}"/>
              </a:ext>
            </a:extLst>
          </p:cNvPr>
          <p:cNvPicPr>
            <a:picLocks noChangeAspect="1"/>
          </p:cNvPicPr>
          <p:nvPr/>
        </p:nvPicPr>
        <p:blipFill>
          <a:blip r:embed="rId2"/>
          <a:stretch>
            <a:fillRect/>
          </a:stretch>
        </p:blipFill>
        <p:spPr>
          <a:xfrm>
            <a:off x="5004048" y="2564904"/>
            <a:ext cx="3312368" cy="3093730"/>
          </a:xfrm>
          <a:prstGeom prst="rect">
            <a:avLst/>
          </a:prstGeom>
          <a:ln>
            <a:noFill/>
          </a:ln>
          <a:effectLst>
            <a:softEdge rad="112500"/>
          </a:effectLst>
        </p:spPr>
      </p:pic>
      <p:sp>
        <p:nvSpPr>
          <p:cNvPr id="6" name="TextBox 5">
            <a:extLst>
              <a:ext uri="{FF2B5EF4-FFF2-40B4-BE49-F238E27FC236}">
                <a16:creationId xmlns:a16="http://schemas.microsoft.com/office/drawing/2014/main" id="{38149675-F074-7020-B4CA-B47D6F009DD7}"/>
              </a:ext>
            </a:extLst>
          </p:cNvPr>
          <p:cNvSpPr txBox="1"/>
          <p:nvPr/>
        </p:nvSpPr>
        <p:spPr>
          <a:xfrm>
            <a:off x="539552" y="897101"/>
            <a:ext cx="8064896" cy="1477328"/>
          </a:xfrm>
          <a:prstGeom prst="rect">
            <a:avLst/>
          </a:prstGeom>
          <a:noFill/>
        </p:spPr>
        <p:txBody>
          <a:bodyPr wrap="square">
            <a:spAutoFit/>
          </a:bodyPr>
          <a:lstStyle/>
          <a:p>
            <a:pPr algn="ctr">
              <a:buNone/>
            </a:pPr>
            <a:r>
              <a:rPr lang="en-US" b="1" dirty="0">
                <a:solidFill>
                  <a:srgbClr val="00B050"/>
                </a:solidFill>
                <a:latin typeface="Times New Roman" panose="02020603050405020304" pitchFamily="18" charset="0"/>
                <a:cs typeface="Times New Roman" panose="02020603050405020304" pitchFamily="18" charset="0"/>
              </a:rPr>
              <a:t>IMPLEMENTATION</a:t>
            </a:r>
          </a:p>
          <a:p>
            <a:pPr algn="just">
              <a:buNone/>
            </a:pPr>
            <a:r>
              <a:rPr lang="en-US" dirty="0">
                <a:latin typeface="Times New Roman" panose="02020603050405020304" pitchFamily="18" charset="0"/>
                <a:cs typeface="Times New Roman" panose="02020603050405020304" pitchFamily="18" charset="0"/>
              </a:rPr>
              <a:t>The implementation phase converts the proposed design and methodology into a working system. In this project, the </a:t>
            </a:r>
            <a:r>
              <a:rPr lang="en-US" b="1" dirty="0">
                <a:latin typeface="Times New Roman" panose="02020603050405020304" pitchFamily="18" charset="0"/>
                <a:cs typeface="Times New Roman" panose="02020603050405020304" pitchFamily="18" charset="0"/>
              </a:rPr>
              <a:t>Public Transport Delay Prediction and Scheduling Analytics System</a:t>
            </a:r>
            <a:r>
              <a:rPr lang="en-US" dirty="0">
                <a:latin typeface="Times New Roman" panose="02020603050405020304" pitchFamily="18" charset="0"/>
                <a:cs typeface="Times New Roman" panose="02020603050405020304" pitchFamily="18" charset="0"/>
              </a:rPr>
              <a:t> is implemented using machine learning techniques along with a web-based application.</a:t>
            </a:r>
          </a:p>
        </p:txBody>
      </p:sp>
    </p:spTree>
    <p:extLst>
      <p:ext uri="{BB962C8B-B14F-4D97-AF65-F5344CB8AC3E}">
        <p14:creationId xmlns:p14="http://schemas.microsoft.com/office/powerpoint/2010/main" val="2865517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AD204B-B002-7D97-E070-0F7414677F8E}"/>
              </a:ext>
            </a:extLst>
          </p:cNvPr>
          <p:cNvSpPr txBox="1"/>
          <p:nvPr/>
        </p:nvSpPr>
        <p:spPr>
          <a:xfrm>
            <a:off x="432048" y="980729"/>
            <a:ext cx="4572000" cy="2308324"/>
          </a:xfrm>
          <a:prstGeom prst="rect">
            <a:avLst/>
          </a:prstGeom>
          <a:noFill/>
        </p:spPr>
        <p:txBody>
          <a:bodyPr wrap="square">
            <a:spAutoFit/>
          </a:bodyPr>
          <a:lstStyle/>
          <a:p>
            <a:pPr>
              <a:buNone/>
            </a:pPr>
            <a:r>
              <a:rPr lang="en-US" b="1" dirty="0">
                <a:solidFill>
                  <a:srgbClr val="00B0F0"/>
                </a:solidFill>
                <a:latin typeface="Times New Roman" panose="02020603050405020304" pitchFamily="18" charset="0"/>
                <a:cs typeface="Times New Roman" panose="02020603050405020304" pitchFamily="18" charset="0"/>
              </a:rPr>
              <a:t>2. Data Handling Implementation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Transport schedule and route data are loaded using Python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Weather and time-based data are merged with transport data</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is cleaned and converted into machine-readable format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Processed data is stored in </a:t>
            </a:r>
            <a:r>
              <a:rPr lang="en-US" b="1" dirty="0">
                <a:latin typeface="Times New Roman" panose="02020603050405020304" pitchFamily="18" charset="0"/>
                <a:cs typeface="Times New Roman" panose="02020603050405020304" pitchFamily="18" charset="0"/>
              </a:rPr>
              <a:t>SQLite database</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349885D-1F46-663D-8ED6-5A09283FE5C9}"/>
              </a:ext>
            </a:extLst>
          </p:cNvPr>
          <p:cNvPicPr>
            <a:picLocks noChangeAspect="1"/>
          </p:cNvPicPr>
          <p:nvPr/>
        </p:nvPicPr>
        <p:blipFill rotWithShape="1">
          <a:blip r:embed="rId2"/>
          <a:srcRect t="1802" b="10783"/>
          <a:stretch>
            <a:fillRect/>
          </a:stretch>
        </p:blipFill>
        <p:spPr bwMode="auto">
          <a:xfrm>
            <a:off x="5004047" y="1075957"/>
            <a:ext cx="4139952" cy="2448272"/>
          </a:xfrm>
          <a:prstGeom prst="rect">
            <a:avLst/>
          </a:prstGeom>
          <a:ln>
            <a:noFill/>
          </a:ln>
          <a:effectLst>
            <a:softEdge rad="112500"/>
          </a:effectLst>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DDEDB834-9434-FB97-08EB-88DA37ADF383}"/>
              </a:ext>
            </a:extLst>
          </p:cNvPr>
          <p:cNvPicPr>
            <a:picLocks noChangeAspect="1"/>
          </p:cNvPicPr>
          <p:nvPr/>
        </p:nvPicPr>
        <p:blipFill>
          <a:blip r:embed="rId3"/>
          <a:stretch>
            <a:fillRect/>
          </a:stretch>
        </p:blipFill>
        <p:spPr>
          <a:xfrm>
            <a:off x="323528" y="4005064"/>
            <a:ext cx="4139952" cy="2628012"/>
          </a:xfrm>
          <a:prstGeom prst="rect">
            <a:avLst/>
          </a:prstGeom>
          <a:ln>
            <a:noFill/>
          </a:ln>
          <a:effectLst>
            <a:softEdge rad="112500"/>
          </a:effectLst>
        </p:spPr>
      </p:pic>
      <p:sp>
        <p:nvSpPr>
          <p:cNvPr id="7" name="TextBox 6">
            <a:extLst>
              <a:ext uri="{FF2B5EF4-FFF2-40B4-BE49-F238E27FC236}">
                <a16:creationId xmlns:a16="http://schemas.microsoft.com/office/drawing/2014/main" id="{8D848966-15F3-E452-AD60-A2F541AFCB24}"/>
              </a:ext>
            </a:extLst>
          </p:cNvPr>
          <p:cNvSpPr txBox="1"/>
          <p:nvPr/>
        </p:nvSpPr>
        <p:spPr>
          <a:xfrm>
            <a:off x="4571999" y="4077072"/>
            <a:ext cx="4572000" cy="2031325"/>
          </a:xfrm>
          <a:prstGeom prst="rect">
            <a:avLst/>
          </a:prstGeom>
          <a:noFill/>
        </p:spPr>
        <p:txBody>
          <a:bodyPr wrap="square">
            <a:spAutoFit/>
          </a:bodyPr>
          <a:lstStyle/>
          <a:p>
            <a:pPr>
              <a:buNone/>
            </a:pPr>
            <a:endParaRPr lang="en-US" dirty="0">
              <a:latin typeface="Times New Roman" panose="02020603050405020304" pitchFamily="18" charset="0"/>
              <a:cs typeface="Times New Roman" panose="02020603050405020304" pitchFamily="18" charset="0"/>
            </a:endParaRPr>
          </a:p>
          <a:p>
            <a:pPr>
              <a:buNone/>
            </a:pPr>
            <a:r>
              <a:rPr lang="en-US" b="1" dirty="0">
                <a:solidFill>
                  <a:srgbClr val="00B0F0"/>
                </a:solidFill>
                <a:latin typeface="Times New Roman" panose="02020603050405020304" pitchFamily="18" charset="0"/>
                <a:cs typeface="Times New Roman" panose="02020603050405020304" pitchFamily="18" charset="0"/>
              </a:rPr>
              <a:t>3. Feature Engineering Implementation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Peak hour is identified using travel time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Weekend and weekday flags are created</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Weather impact features are added</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These features help the model understand real-world delay patterns</a:t>
            </a:r>
          </a:p>
        </p:txBody>
      </p:sp>
    </p:spTree>
    <p:extLst>
      <p:ext uri="{BB962C8B-B14F-4D97-AF65-F5344CB8AC3E}">
        <p14:creationId xmlns:p14="http://schemas.microsoft.com/office/powerpoint/2010/main" val="1207960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47D9D9-F45E-177D-9D32-2726C15BAA96}"/>
              </a:ext>
            </a:extLst>
          </p:cNvPr>
          <p:cNvSpPr txBox="1"/>
          <p:nvPr/>
        </p:nvSpPr>
        <p:spPr>
          <a:xfrm>
            <a:off x="107504" y="764704"/>
            <a:ext cx="4104456" cy="2862322"/>
          </a:xfrm>
          <a:prstGeom prst="rect">
            <a:avLst/>
          </a:prstGeom>
          <a:noFill/>
        </p:spPr>
        <p:txBody>
          <a:bodyPr wrap="square">
            <a:spAutoFit/>
          </a:bodyPr>
          <a:lstStyle/>
          <a:p>
            <a:pPr algn="ctr">
              <a:buNone/>
            </a:pPr>
            <a:r>
              <a:rPr lang="en-US" b="1" dirty="0">
                <a:solidFill>
                  <a:srgbClr val="00B0F0"/>
                </a:solidFill>
                <a:latin typeface="Times New Roman" panose="02020603050405020304" pitchFamily="18" charset="0"/>
                <a:cs typeface="Times New Roman" panose="02020603050405020304" pitchFamily="18" charset="0"/>
              </a:rPr>
              <a:t>4. Machine Learning Model Implementation</a:t>
            </a:r>
          </a:p>
          <a:p>
            <a:pPr>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XGBoost</a:t>
            </a:r>
            <a:r>
              <a:rPr lang="en-US" b="1" dirty="0">
                <a:latin typeface="Times New Roman" panose="02020603050405020304" pitchFamily="18" charset="0"/>
                <a:cs typeface="Times New Roman" panose="02020603050405020304" pitchFamily="18" charset="0"/>
              </a:rPr>
              <a:t> regression model</a:t>
            </a:r>
            <a:r>
              <a:rPr lang="en-US" dirty="0">
                <a:latin typeface="Times New Roman" panose="02020603050405020304" pitchFamily="18" charset="0"/>
                <a:cs typeface="Times New Roman" panose="02020603050405020304" pitchFamily="18" charset="0"/>
              </a:rPr>
              <a:t> is implemented</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Dataset is split into training and testing sets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Model is trained using historical transport data</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Trained model is saved for future predictions</a:t>
            </a:r>
          </a:p>
        </p:txBody>
      </p:sp>
      <p:pic>
        <p:nvPicPr>
          <p:cNvPr id="4" name="Picture 3">
            <a:extLst>
              <a:ext uri="{FF2B5EF4-FFF2-40B4-BE49-F238E27FC236}">
                <a16:creationId xmlns:a16="http://schemas.microsoft.com/office/drawing/2014/main" id="{7A058AD7-4470-0E88-39B6-393BEA9378B1}"/>
              </a:ext>
            </a:extLst>
          </p:cNvPr>
          <p:cNvPicPr>
            <a:picLocks noChangeAspect="1"/>
          </p:cNvPicPr>
          <p:nvPr/>
        </p:nvPicPr>
        <p:blipFill>
          <a:blip r:embed="rId2"/>
          <a:stretch>
            <a:fillRect/>
          </a:stretch>
        </p:blipFill>
        <p:spPr>
          <a:xfrm>
            <a:off x="4283968" y="355080"/>
            <a:ext cx="4752528" cy="3066415"/>
          </a:xfrm>
          <a:prstGeom prst="rect">
            <a:avLst/>
          </a:prstGeom>
          <a:ln>
            <a:noFill/>
          </a:ln>
          <a:effectLst>
            <a:softEdge rad="112500"/>
          </a:effectLst>
        </p:spPr>
      </p:pic>
      <p:pic>
        <p:nvPicPr>
          <p:cNvPr id="5" name="Picture 4">
            <a:extLst>
              <a:ext uri="{FF2B5EF4-FFF2-40B4-BE49-F238E27FC236}">
                <a16:creationId xmlns:a16="http://schemas.microsoft.com/office/drawing/2014/main" id="{38DBF8B3-2C7E-F2C4-584B-7BA0CFB65DBA}"/>
              </a:ext>
            </a:extLst>
          </p:cNvPr>
          <p:cNvPicPr>
            <a:picLocks noChangeAspect="1"/>
          </p:cNvPicPr>
          <p:nvPr/>
        </p:nvPicPr>
        <p:blipFill rotWithShape="1">
          <a:blip r:embed="rId3"/>
          <a:srcRect t="1240"/>
          <a:stretch>
            <a:fillRect/>
          </a:stretch>
        </p:blipFill>
        <p:spPr bwMode="auto">
          <a:xfrm>
            <a:off x="179512" y="4005064"/>
            <a:ext cx="4799330" cy="2736850"/>
          </a:xfrm>
          <a:prstGeom prst="rect">
            <a:avLst/>
          </a:prstGeom>
          <a:ln>
            <a:noFill/>
          </a:ln>
          <a:effectLst>
            <a:softEdge rad="112500"/>
          </a:effectLst>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ADA6B471-DF13-71BC-2B80-C7A70092DF92}"/>
              </a:ext>
            </a:extLst>
          </p:cNvPr>
          <p:cNvSpPr txBox="1"/>
          <p:nvPr/>
        </p:nvSpPr>
        <p:spPr>
          <a:xfrm>
            <a:off x="5050850" y="4080827"/>
            <a:ext cx="3985646" cy="2585323"/>
          </a:xfrm>
          <a:prstGeom prst="rect">
            <a:avLst/>
          </a:prstGeom>
          <a:noFill/>
        </p:spPr>
        <p:txBody>
          <a:bodyPr wrap="square">
            <a:spAutoFit/>
          </a:bodyPr>
          <a:lstStyle/>
          <a:p>
            <a:pPr>
              <a:buNone/>
            </a:pPr>
            <a:r>
              <a:rPr lang="en-US" b="1" dirty="0">
                <a:solidFill>
                  <a:srgbClr val="00B0F0"/>
                </a:solidFill>
                <a:latin typeface="Times New Roman" panose="02020603050405020304" pitchFamily="18" charset="0"/>
                <a:cs typeface="Times New Roman" panose="02020603050405020304" pitchFamily="18" charset="0"/>
              </a:rPr>
              <a:t>5. Web Application Implementation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Flask framework is used to connect frontend and backend</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User inputs source, destination, transport type, and date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Backend processes input and sends it to ML model</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Predicted delay and arrival time are generated</a:t>
            </a:r>
          </a:p>
        </p:txBody>
      </p:sp>
    </p:spTree>
    <p:extLst>
      <p:ext uri="{BB962C8B-B14F-4D97-AF65-F5344CB8AC3E}">
        <p14:creationId xmlns:p14="http://schemas.microsoft.com/office/powerpoint/2010/main" val="33670545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0AF04C-7F6C-A947-D838-B24D5F4EF3E7}"/>
              </a:ext>
            </a:extLst>
          </p:cNvPr>
          <p:cNvSpPr txBox="1"/>
          <p:nvPr/>
        </p:nvSpPr>
        <p:spPr>
          <a:xfrm>
            <a:off x="251520" y="781922"/>
            <a:ext cx="4536504" cy="2031325"/>
          </a:xfrm>
          <a:prstGeom prst="rect">
            <a:avLst/>
          </a:prstGeom>
          <a:noFill/>
        </p:spPr>
        <p:txBody>
          <a:bodyPr wrap="square">
            <a:spAutoFit/>
          </a:bodyPr>
          <a:lstStyle/>
          <a:p>
            <a:pPr>
              <a:buNone/>
            </a:pPr>
            <a:r>
              <a:rPr lang="en-US" b="1" dirty="0">
                <a:solidFill>
                  <a:srgbClr val="00B0F0"/>
                </a:solidFill>
                <a:latin typeface="Times New Roman" panose="02020603050405020304" pitchFamily="18" charset="0"/>
                <a:cs typeface="Times New Roman" panose="02020603050405020304" pitchFamily="18" charset="0"/>
              </a:rPr>
              <a:t>6. Prediction Workflow</a:t>
            </a:r>
          </a:p>
          <a:p>
            <a:pPr>
              <a:buFont typeface="+mj-lt"/>
              <a:buAutoNum type="arabicPeriod"/>
            </a:pPr>
            <a:r>
              <a:rPr lang="en-US" dirty="0">
                <a:latin typeface="Times New Roman" panose="02020603050405020304" pitchFamily="18" charset="0"/>
                <a:cs typeface="Times New Roman" panose="02020603050405020304" pitchFamily="18" charset="0"/>
              </a:rPr>
              <a:t>User enters travel details</a:t>
            </a:r>
          </a:p>
          <a:p>
            <a:pPr>
              <a:buFont typeface="+mj-lt"/>
              <a:buAutoNum type="arabicPeriod"/>
            </a:pPr>
            <a:r>
              <a:rPr lang="en-US" dirty="0">
                <a:latin typeface="Times New Roman" panose="02020603050405020304" pitchFamily="18" charset="0"/>
                <a:cs typeface="Times New Roman" panose="02020603050405020304" pitchFamily="18" charset="0"/>
              </a:rPr>
              <a:t>System fetches relevant data</a:t>
            </a:r>
          </a:p>
          <a:p>
            <a:pPr>
              <a:buFont typeface="+mj-lt"/>
              <a:buAutoNum type="arabicPeriod"/>
            </a:pPr>
            <a:r>
              <a:rPr lang="en-US" dirty="0">
                <a:latin typeface="Times New Roman" panose="02020603050405020304" pitchFamily="18" charset="0"/>
                <a:cs typeface="Times New Roman" panose="02020603050405020304" pitchFamily="18" charset="0"/>
              </a:rPr>
              <a:t>Features are prepared in real time</a:t>
            </a:r>
          </a:p>
          <a:p>
            <a:pPr>
              <a:buFont typeface="+mj-lt"/>
              <a:buAutoNum type="arabicPeriod"/>
            </a:pPr>
            <a:r>
              <a:rPr lang="en-US" dirty="0">
                <a:latin typeface="Times New Roman" panose="02020603050405020304" pitchFamily="18" charset="0"/>
                <a:cs typeface="Times New Roman" panose="02020603050405020304" pitchFamily="18" charset="0"/>
              </a:rPr>
              <a:t>ML model predicts delay duration</a:t>
            </a:r>
          </a:p>
          <a:p>
            <a:pPr>
              <a:buFont typeface="+mj-lt"/>
              <a:buAutoNum type="arabicPeriod"/>
            </a:pPr>
            <a:r>
              <a:rPr lang="en-US" dirty="0">
                <a:latin typeface="Times New Roman" panose="02020603050405020304" pitchFamily="18" charset="0"/>
                <a:cs typeface="Times New Roman" panose="02020603050405020304" pitchFamily="18" charset="0"/>
              </a:rPr>
              <a:t>Expected arrival time is calculated</a:t>
            </a:r>
          </a:p>
          <a:p>
            <a:pPr>
              <a:buFont typeface="+mj-lt"/>
              <a:buAutoNum type="arabicPeriod"/>
            </a:pPr>
            <a:r>
              <a:rPr lang="en-US" dirty="0">
                <a:latin typeface="Times New Roman" panose="02020603050405020304" pitchFamily="18" charset="0"/>
                <a:cs typeface="Times New Roman" panose="02020603050405020304" pitchFamily="18" charset="0"/>
              </a:rPr>
              <a:t>Result is displayed to the user</a:t>
            </a:r>
          </a:p>
        </p:txBody>
      </p:sp>
      <p:pic>
        <p:nvPicPr>
          <p:cNvPr id="4" name="Picture 3">
            <a:extLst>
              <a:ext uri="{FF2B5EF4-FFF2-40B4-BE49-F238E27FC236}">
                <a16:creationId xmlns:a16="http://schemas.microsoft.com/office/drawing/2014/main" id="{6080BB46-623B-2B21-752E-E9A7D36E5C7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79912" y="764704"/>
            <a:ext cx="5292080" cy="2320290"/>
          </a:xfrm>
          <a:prstGeom prst="rect">
            <a:avLst/>
          </a:prstGeom>
          <a:ln>
            <a:noFill/>
          </a:ln>
          <a:effectLst>
            <a:softEdge rad="112500"/>
          </a:effectLst>
        </p:spPr>
      </p:pic>
      <p:sp>
        <p:nvSpPr>
          <p:cNvPr id="6" name="TextBox 5">
            <a:extLst>
              <a:ext uri="{FF2B5EF4-FFF2-40B4-BE49-F238E27FC236}">
                <a16:creationId xmlns:a16="http://schemas.microsoft.com/office/drawing/2014/main" id="{A01C9248-F6B5-E7AE-F080-F64296664AFD}"/>
              </a:ext>
            </a:extLst>
          </p:cNvPr>
          <p:cNvSpPr txBox="1"/>
          <p:nvPr/>
        </p:nvSpPr>
        <p:spPr>
          <a:xfrm>
            <a:off x="4644008" y="3717032"/>
            <a:ext cx="4572000" cy="2120068"/>
          </a:xfrm>
          <a:prstGeom prst="rect">
            <a:avLst/>
          </a:prstGeom>
          <a:noFill/>
        </p:spPr>
        <p:txBody>
          <a:bodyPr wrap="square">
            <a:spAutoFit/>
          </a:bodyPr>
          <a:lstStyle/>
          <a:p>
            <a:pPr>
              <a:lnSpc>
                <a:spcPct val="150000"/>
              </a:lnSpc>
              <a:buNone/>
            </a:pPr>
            <a:r>
              <a:rPr lang="en-US" b="1" dirty="0">
                <a:solidFill>
                  <a:srgbClr val="00B0F0"/>
                </a:solidFill>
                <a:latin typeface="Times New Roman" panose="02020603050405020304" pitchFamily="18" charset="0"/>
                <a:cs typeface="Times New Roman" panose="02020603050405020304" pitchFamily="18" charset="0"/>
              </a:rPr>
              <a:t>7. Error Handling and Validation</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Invalid inputs are handled properly</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Missing data is managed gracefully</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System provides meaningful messages instead of errors</a:t>
            </a:r>
          </a:p>
        </p:txBody>
      </p:sp>
      <p:pic>
        <p:nvPicPr>
          <p:cNvPr id="7" name="Picture 6">
            <a:extLst>
              <a:ext uri="{FF2B5EF4-FFF2-40B4-BE49-F238E27FC236}">
                <a16:creationId xmlns:a16="http://schemas.microsoft.com/office/drawing/2014/main" id="{B12E3F3A-78A7-72EC-E066-9E6BD2CF9C1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496" y="3717032"/>
            <a:ext cx="4572000" cy="2448272"/>
          </a:xfrm>
          <a:prstGeom prst="rect">
            <a:avLst/>
          </a:prstGeom>
          <a:ln>
            <a:noFill/>
          </a:ln>
          <a:effectLst>
            <a:softEdge rad="112500"/>
          </a:effectLst>
        </p:spPr>
      </p:pic>
    </p:spTree>
    <p:extLst>
      <p:ext uri="{BB962C8B-B14F-4D97-AF65-F5344CB8AC3E}">
        <p14:creationId xmlns:p14="http://schemas.microsoft.com/office/powerpoint/2010/main" val="2931979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113EF9-987F-D323-1F04-38D426E32175}"/>
              </a:ext>
            </a:extLst>
          </p:cNvPr>
          <p:cNvSpPr txBox="1"/>
          <p:nvPr/>
        </p:nvSpPr>
        <p:spPr>
          <a:xfrm>
            <a:off x="1043608" y="548680"/>
            <a:ext cx="6696744" cy="5632311"/>
          </a:xfrm>
          <a:prstGeom prst="rect">
            <a:avLst/>
          </a:prstGeom>
          <a:noFill/>
        </p:spPr>
        <p:txBody>
          <a:bodyPr wrap="square">
            <a:spAutoFit/>
          </a:bodyPr>
          <a:lstStyle/>
          <a:p>
            <a:pPr algn="ctr">
              <a:buNone/>
            </a:pPr>
            <a:r>
              <a:rPr lang="en-IN" b="1" dirty="0">
                <a:solidFill>
                  <a:schemeClr val="accent1"/>
                </a:solidFill>
              </a:rPr>
              <a:t>EXPERIMENTAL SETUP &amp; RESULTS</a:t>
            </a:r>
          </a:p>
          <a:p>
            <a:pPr>
              <a:buNone/>
            </a:pPr>
            <a:r>
              <a:rPr lang="en-IN" b="1" dirty="0">
                <a:solidFill>
                  <a:srgbClr val="00B0F0"/>
                </a:solidFill>
              </a:rPr>
              <a:t>Experimental Setup</a:t>
            </a:r>
          </a:p>
          <a:p>
            <a:pPr>
              <a:buFont typeface="Arial" panose="020B0604020202020204" pitchFamily="34" charset="0"/>
              <a:buChar char="•"/>
            </a:pPr>
            <a:r>
              <a:rPr lang="en-IN" b="1" dirty="0"/>
              <a:t>Hardware:</a:t>
            </a:r>
            <a:r>
              <a:rPr lang="en-IN" dirty="0"/>
              <a:t> Intel i5, 8 GB RAM, 50 GB storage (64-bit)</a:t>
            </a:r>
          </a:p>
          <a:p>
            <a:pPr>
              <a:buFont typeface="Arial" panose="020B0604020202020204" pitchFamily="34" charset="0"/>
              <a:buChar char="•"/>
            </a:pPr>
            <a:r>
              <a:rPr lang="en-IN" b="1" dirty="0"/>
              <a:t>Software:</a:t>
            </a:r>
            <a:r>
              <a:rPr lang="en-IN" dirty="0"/>
              <a:t> Windows / Linux, Python</a:t>
            </a:r>
          </a:p>
          <a:p>
            <a:pPr>
              <a:buFont typeface="Arial" panose="020B0604020202020204" pitchFamily="34" charset="0"/>
              <a:buChar char="•"/>
            </a:pPr>
            <a:r>
              <a:rPr lang="en-IN" b="1" dirty="0"/>
              <a:t>Tools:</a:t>
            </a:r>
            <a:r>
              <a:rPr lang="en-IN" dirty="0"/>
              <a:t> VS Code, </a:t>
            </a:r>
            <a:r>
              <a:rPr lang="en-IN" dirty="0" err="1"/>
              <a:t>Jupyter</a:t>
            </a:r>
            <a:r>
              <a:rPr lang="en-IN" dirty="0"/>
              <a:t> Notebook</a:t>
            </a:r>
          </a:p>
          <a:p>
            <a:pPr>
              <a:buFont typeface="Arial" panose="020B0604020202020204" pitchFamily="34" charset="0"/>
              <a:buChar char="•"/>
            </a:pPr>
            <a:r>
              <a:rPr lang="en-IN" b="1" dirty="0"/>
              <a:t>ML Libraries:</a:t>
            </a:r>
            <a:r>
              <a:rPr lang="en-IN" dirty="0"/>
              <a:t> NumPy, Pandas, Scikit-learn, </a:t>
            </a:r>
            <a:r>
              <a:rPr lang="en-IN" dirty="0" err="1"/>
              <a:t>XGBoost</a:t>
            </a:r>
            <a:endParaRPr lang="en-IN" dirty="0"/>
          </a:p>
          <a:p>
            <a:pPr>
              <a:buFont typeface="Arial" panose="020B0604020202020204" pitchFamily="34" charset="0"/>
              <a:buChar char="•"/>
            </a:pPr>
            <a:r>
              <a:rPr lang="en-IN" b="1" dirty="0"/>
              <a:t>Web &amp; DB:</a:t>
            </a:r>
            <a:r>
              <a:rPr lang="en-IN" dirty="0"/>
              <a:t> Flask, SQLite</a:t>
            </a:r>
          </a:p>
          <a:p>
            <a:endParaRPr lang="en-IN" dirty="0"/>
          </a:p>
          <a:p>
            <a:pPr>
              <a:buNone/>
            </a:pPr>
            <a:r>
              <a:rPr lang="en-IN" b="1" dirty="0">
                <a:solidFill>
                  <a:srgbClr val="00B0F0"/>
                </a:solidFill>
              </a:rPr>
              <a:t>Dataset</a:t>
            </a:r>
          </a:p>
          <a:p>
            <a:pPr>
              <a:buFont typeface="Arial" panose="020B0604020202020204" pitchFamily="34" charset="0"/>
              <a:buChar char="•"/>
            </a:pPr>
            <a:r>
              <a:rPr lang="en-IN" dirty="0"/>
              <a:t>Bus, Metro, and Train records</a:t>
            </a:r>
          </a:p>
          <a:p>
            <a:pPr>
              <a:buFont typeface="Arial" panose="020B0604020202020204" pitchFamily="34" charset="0"/>
              <a:buChar char="•"/>
            </a:pPr>
            <a:r>
              <a:rPr lang="en-IN" dirty="0"/>
              <a:t>Route, transport type, scheduled &amp; actual arrival time</a:t>
            </a:r>
          </a:p>
          <a:p>
            <a:pPr>
              <a:buFont typeface="Arial" panose="020B0604020202020204" pitchFamily="34" charset="0"/>
              <a:buChar char="•"/>
            </a:pPr>
            <a:r>
              <a:rPr lang="en-IN" dirty="0"/>
              <a:t>Time features: hour, peak hour</a:t>
            </a:r>
          </a:p>
          <a:p>
            <a:pPr>
              <a:buFont typeface="Arial" panose="020B0604020202020204" pitchFamily="34" charset="0"/>
              <a:buChar char="•"/>
            </a:pPr>
            <a:r>
              <a:rPr lang="en-IN" dirty="0"/>
              <a:t>Weather conditions: clear, rainy</a:t>
            </a:r>
          </a:p>
          <a:p>
            <a:pPr>
              <a:buFont typeface="Arial" panose="020B0604020202020204" pitchFamily="34" charset="0"/>
              <a:buChar char="•"/>
            </a:pPr>
            <a:r>
              <a:rPr lang="en-IN" dirty="0"/>
              <a:t>Target: </a:t>
            </a:r>
            <a:r>
              <a:rPr lang="en-IN" b="1" dirty="0"/>
              <a:t>Delay (in minutes)</a:t>
            </a:r>
          </a:p>
          <a:p>
            <a:pPr>
              <a:buFont typeface="Arial" panose="020B0604020202020204" pitchFamily="34" charset="0"/>
              <a:buChar char="•"/>
            </a:pPr>
            <a:endParaRPr lang="en-IN" dirty="0"/>
          </a:p>
          <a:p>
            <a:pPr>
              <a:buNone/>
            </a:pPr>
            <a:r>
              <a:rPr lang="en-IN" b="1" dirty="0">
                <a:solidFill>
                  <a:srgbClr val="00B0F0"/>
                </a:solidFill>
              </a:rPr>
              <a:t>Results</a:t>
            </a:r>
          </a:p>
          <a:p>
            <a:pPr>
              <a:buFont typeface="Arial" panose="020B0604020202020204" pitchFamily="34" charset="0"/>
              <a:buChar char="•"/>
            </a:pPr>
            <a:r>
              <a:rPr lang="en-IN" dirty="0"/>
              <a:t>Low prediction error</a:t>
            </a:r>
          </a:p>
          <a:p>
            <a:pPr>
              <a:buFont typeface="Arial" panose="020B0604020202020204" pitchFamily="34" charset="0"/>
              <a:buChar char="•"/>
            </a:pPr>
            <a:r>
              <a:rPr lang="en-IN" dirty="0"/>
              <a:t>Accuracy: </a:t>
            </a:r>
            <a:r>
              <a:rPr lang="en-IN" b="1" dirty="0"/>
              <a:t>85–90%</a:t>
            </a:r>
            <a:endParaRPr lang="en-IN" dirty="0"/>
          </a:p>
          <a:p>
            <a:pPr>
              <a:buFont typeface="Arial" panose="020B0604020202020204" pitchFamily="34" charset="0"/>
              <a:buChar char="•"/>
            </a:pPr>
            <a:r>
              <a:rPr lang="en-IN" dirty="0"/>
              <a:t>Works well during peak hours &amp; bad weather</a:t>
            </a:r>
          </a:p>
          <a:p>
            <a:pPr>
              <a:buFont typeface="Arial" panose="020B0604020202020204" pitchFamily="34" charset="0"/>
              <a:buChar char="•"/>
            </a:pPr>
            <a:r>
              <a:rPr lang="en-IN" dirty="0"/>
              <a:t>Prediction time: </a:t>
            </a:r>
            <a:r>
              <a:rPr lang="en-IN" b="1" dirty="0"/>
              <a:t>&lt; 1 second</a:t>
            </a:r>
            <a:endParaRPr lang="en-IN" dirty="0"/>
          </a:p>
        </p:txBody>
      </p:sp>
    </p:spTree>
    <p:extLst>
      <p:ext uri="{BB962C8B-B14F-4D97-AF65-F5344CB8AC3E}">
        <p14:creationId xmlns:p14="http://schemas.microsoft.com/office/powerpoint/2010/main" val="1951463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8250BCD-386F-CA0F-A7C6-7FCA187C1E7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917" y="692696"/>
            <a:ext cx="4893163" cy="2511098"/>
          </a:xfrm>
          <a:prstGeom prst="rect">
            <a:avLst/>
          </a:prstGeom>
          <a:noFill/>
          <a:ln>
            <a:noFill/>
          </a:ln>
        </p:spPr>
      </p:pic>
      <p:pic>
        <p:nvPicPr>
          <p:cNvPr id="3" name="Picture 2">
            <a:extLst>
              <a:ext uri="{FF2B5EF4-FFF2-40B4-BE49-F238E27FC236}">
                <a16:creationId xmlns:a16="http://schemas.microsoft.com/office/drawing/2014/main" id="{757F262C-B77B-1492-A611-B9D5EA84257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5536" y="3459899"/>
            <a:ext cx="4893163" cy="2924780"/>
          </a:xfrm>
          <a:prstGeom prst="rect">
            <a:avLst/>
          </a:prstGeom>
          <a:noFill/>
          <a:ln>
            <a:noFill/>
          </a:ln>
        </p:spPr>
      </p:pic>
      <p:pic>
        <p:nvPicPr>
          <p:cNvPr id="4" name="Picture 3">
            <a:extLst>
              <a:ext uri="{FF2B5EF4-FFF2-40B4-BE49-F238E27FC236}">
                <a16:creationId xmlns:a16="http://schemas.microsoft.com/office/drawing/2014/main" id="{C1D93518-1941-9241-0158-734E33CB531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220072" y="692696"/>
            <a:ext cx="3672408" cy="2705405"/>
          </a:xfrm>
          <a:prstGeom prst="rect">
            <a:avLst/>
          </a:prstGeom>
          <a:noFill/>
          <a:ln>
            <a:noFill/>
          </a:ln>
        </p:spPr>
      </p:pic>
      <p:pic>
        <p:nvPicPr>
          <p:cNvPr id="5" name="Picture 4">
            <a:extLst>
              <a:ext uri="{FF2B5EF4-FFF2-40B4-BE49-F238E27FC236}">
                <a16:creationId xmlns:a16="http://schemas.microsoft.com/office/drawing/2014/main" id="{2339EAE9-5070-1F29-68C7-D67F79ED3CD1}"/>
              </a:ext>
            </a:extLst>
          </p:cNvPr>
          <p:cNvPicPr>
            <a:picLocks noChangeAspect="1"/>
          </p:cNvPicPr>
          <p:nvPr/>
        </p:nvPicPr>
        <p:blipFill>
          <a:blip r:embed="rId5">
            <a:extLst>
              <a:ext uri="{28A0092B-C50C-407E-A947-70E740481C1C}">
                <a14:useLocalDpi xmlns:a14="http://schemas.microsoft.com/office/drawing/2010/main" val="0"/>
              </a:ext>
            </a:extLst>
          </a:blip>
          <a:srcRect r="15517"/>
          <a:stretch>
            <a:fillRect/>
          </a:stretch>
        </p:blipFill>
        <p:spPr bwMode="auto">
          <a:xfrm>
            <a:off x="5220072" y="3429000"/>
            <a:ext cx="3528392" cy="3312368"/>
          </a:xfrm>
          <a:prstGeom prst="rect">
            <a:avLst/>
          </a:prstGeom>
          <a:noFill/>
          <a:ln>
            <a:noFill/>
          </a:ln>
        </p:spPr>
      </p:pic>
      <p:sp>
        <p:nvSpPr>
          <p:cNvPr id="7" name="TextBox 6">
            <a:extLst>
              <a:ext uri="{FF2B5EF4-FFF2-40B4-BE49-F238E27FC236}">
                <a16:creationId xmlns:a16="http://schemas.microsoft.com/office/drawing/2014/main" id="{60A957A6-DB5A-5F9D-5367-14958D1526F0}"/>
              </a:ext>
            </a:extLst>
          </p:cNvPr>
          <p:cNvSpPr txBox="1"/>
          <p:nvPr/>
        </p:nvSpPr>
        <p:spPr>
          <a:xfrm>
            <a:off x="4067944" y="251925"/>
            <a:ext cx="1080120" cy="400110"/>
          </a:xfrm>
          <a:prstGeom prst="rect">
            <a:avLst/>
          </a:prstGeom>
          <a:noFill/>
        </p:spPr>
        <p:txBody>
          <a:bodyPr wrap="square">
            <a:spAutoFit/>
          </a:bodyPr>
          <a:lstStyle/>
          <a:p>
            <a:r>
              <a:rPr lang="en-IN" sz="2000" b="1" dirty="0">
                <a:solidFill>
                  <a:srgbClr val="0070C0"/>
                </a:solidFill>
              </a:rPr>
              <a:t>OUTPUT</a:t>
            </a:r>
            <a:endParaRPr lang="en-IN" sz="2000" dirty="0">
              <a:solidFill>
                <a:srgbClr val="0070C0"/>
              </a:solidFill>
            </a:endParaRPr>
          </a:p>
        </p:txBody>
      </p:sp>
    </p:spTree>
    <p:extLst>
      <p:ext uri="{BB962C8B-B14F-4D97-AF65-F5344CB8AC3E}">
        <p14:creationId xmlns:p14="http://schemas.microsoft.com/office/powerpoint/2010/main" val="2162968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CF35F4-200B-22B3-3418-F3FD0E8103C6}"/>
              </a:ext>
            </a:extLst>
          </p:cNvPr>
          <p:cNvSpPr txBox="1"/>
          <p:nvPr/>
        </p:nvSpPr>
        <p:spPr>
          <a:xfrm>
            <a:off x="1880828" y="1556792"/>
            <a:ext cx="5382344" cy="3366563"/>
          </a:xfrm>
          <a:prstGeom prst="rect">
            <a:avLst/>
          </a:prstGeom>
          <a:noFill/>
        </p:spPr>
        <p:txBody>
          <a:bodyPr wrap="square">
            <a:spAutoFit/>
          </a:bodyPr>
          <a:lstStyle/>
          <a:p>
            <a:pPr algn="ctr">
              <a:lnSpc>
                <a:spcPct val="150000"/>
              </a:lnSpc>
              <a:buNone/>
            </a:pPr>
            <a:r>
              <a:rPr lang="en-US" b="1" dirty="0">
                <a:solidFill>
                  <a:schemeClr val="accent1"/>
                </a:solidFill>
                <a:latin typeface="Times New Roman" panose="02020603050405020304" pitchFamily="18" charset="0"/>
                <a:cs typeface="Times New Roman" panose="02020603050405020304" pitchFamily="18" charset="0"/>
              </a:rPr>
              <a:t>APPLICATIONS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Helps </a:t>
            </a:r>
            <a:r>
              <a:rPr lang="en-US" b="1" dirty="0">
                <a:latin typeface="Times New Roman" panose="02020603050405020304" pitchFamily="18" charset="0"/>
                <a:cs typeface="Times New Roman" panose="02020603050405020304" pitchFamily="18" charset="0"/>
              </a:rPr>
              <a:t>daily commuters</a:t>
            </a:r>
            <a:r>
              <a:rPr lang="en-US" dirty="0">
                <a:latin typeface="Times New Roman" panose="02020603050405020304" pitchFamily="18" charset="0"/>
                <a:cs typeface="Times New Roman" panose="02020603050405020304" pitchFamily="18" charset="0"/>
              </a:rPr>
              <a:t> plan their travel efficiently</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a:t>
            </a:r>
            <a:r>
              <a:rPr lang="en-US" b="1" dirty="0">
                <a:latin typeface="Times New Roman" panose="02020603050405020304" pitchFamily="18" charset="0"/>
                <a:cs typeface="Times New Roman" panose="02020603050405020304" pitchFamily="18" charset="0"/>
              </a:rPr>
              <a:t>accurate arrival time</a:t>
            </a:r>
            <a:r>
              <a:rPr lang="en-US" dirty="0">
                <a:latin typeface="Times New Roman" panose="02020603050405020304" pitchFamily="18" charset="0"/>
                <a:cs typeface="Times New Roman" panose="02020603050405020304" pitchFamily="18" charset="0"/>
              </a:rPr>
              <a:t> information</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Reduces </a:t>
            </a:r>
            <a:r>
              <a:rPr lang="en-US" b="1" dirty="0">
                <a:latin typeface="Times New Roman" panose="02020603050405020304" pitchFamily="18" charset="0"/>
                <a:cs typeface="Times New Roman" panose="02020603050405020304" pitchFamily="18" charset="0"/>
              </a:rPr>
              <a:t>waiting time and uncertainty</a:t>
            </a:r>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Useful for </a:t>
            </a:r>
            <a:r>
              <a:rPr lang="en-US" b="1" dirty="0">
                <a:latin typeface="Times New Roman" panose="02020603050405020304" pitchFamily="18" charset="0"/>
                <a:cs typeface="Times New Roman" panose="02020603050405020304" pitchFamily="18" charset="0"/>
              </a:rPr>
              <a:t>bus, metro, and train services</a:t>
            </a:r>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Assists </a:t>
            </a:r>
            <a:r>
              <a:rPr lang="en-US" b="1" dirty="0">
                <a:latin typeface="Times New Roman" panose="02020603050405020304" pitchFamily="18" charset="0"/>
                <a:cs typeface="Times New Roman" panose="02020603050405020304" pitchFamily="18" charset="0"/>
              </a:rPr>
              <a:t>transport authorities</a:t>
            </a:r>
            <a:r>
              <a:rPr lang="en-US" dirty="0">
                <a:latin typeface="Times New Roman" panose="02020603050405020304" pitchFamily="18" charset="0"/>
                <a:cs typeface="Times New Roman" panose="02020603050405020304" pitchFamily="18" charset="0"/>
              </a:rPr>
              <a:t> in schedule planning</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Supports </a:t>
            </a:r>
            <a:r>
              <a:rPr lang="en-US" b="1" dirty="0">
                <a:latin typeface="Times New Roman" panose="02020603050405020304" pitchFamily="18" charset="0"/>
                <a:cs typeface="Times New Roman" panose="02020603050405020304" pitchFamily="18" charset="0"/>
              </a:rPr>
              <a:t>smart city transportation systems</a:t>
            </a:r>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Improves overall </a:t>
            </a:r>
            <a:r>
              <a:rPr lang="en-US" b="1" dirty="0">
                <a:latin typeface="Times New Roman" panose="02020603050405020304" pitchFamily="18" charset="0"/>
                <a:cs typeface="Times New Roman" panose="02020603050405020304" pitchFamily="18" charset="0"/>
              </a:rPr>
              <a:t>public transport reliability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44261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9BD358-41E5-2078-30A1-17994483A959}"/>
              </a:ext>
            </a:extLst>
          </p:cNvPr>
          <p:cNvSpPr txBox="1"/>
          <p:nvPr/>
        </p:nvSpPr>
        <p:spPr>
          <a:xfrm>
            <a:off x="2286000" y="1997839"/>
            <a:ext cx="4572000" cy="2862322"/>
          </a:xfrm>
          <a:prstGeom prst="rect">
            <a:avLst/>
          </a:prstGeom>
          <a:noFill/>
        </p:spPr>
        <p:txBody>
          <a:bodyPr wrap="square">
            <a:spAutoFit/>
          </a:bodyPr>
          <a:lstStyle/>
          <a:p>
            <a:pPr algn="ctr">
              <a:buNone/>
            </a:pPr>
            <a:r>
              <a:rPr lang="en-US" b="1" dirty="0">
                <a:solidFill>
                  <a:schemeClr val="accent1"/>
                </a:solidFill>
                <a:latin typeface="Times New Roman" panose="02020603050405020304" pitchFamily="18" charset="0"/>
                <a:cs typeface="Times New Roman" panose="02020603050405020304" pitchFamily="18" charset="0"/>
              </a:rPr>
              <a:t>FUTURE SCOPE</a:t>
            </a:r>
          </a:p>
          <a:p>
            <a:pPr algn="ctr">
              <a:buNone/>
            </a:pPr>
            <a:endParaRPr lang="en-US" b="1" dirty="0">
              <a:solidFill>
                <a:schemeClr val="accent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Integration of </a:t>
            </a:r>
            <a:r>
              <a:rPr lang="en-US" b="1" dirty="0">
                <a:latin typeface="Times New Roman" panose="02020603050405020304" pitchFamily="18" charset="0"/>
                <a:cs typeface="Times New Roman" panose="02020603050405020304" pitchFamily="18" charset="0"/>
              </a:rPr>
              <a:t>real-time GPS tracking</a:t>
            </a:r>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 of </a:t>
            </a:r>
            <a:r>
              <a:rPr lang="en-US" b="1" dirty="0">
                <a:latin typeface="Times New Roman" panose="02020603050405020304" pitchFamily="18" charset="0"/>
                <a:cs typeface="Times New Roman" panose="02020603050405020304" pitchFamily="18" charset="0"/>
              </a:rPr>
              <a:t>live traffic data</a:t>
            </a:r>
            <a:r>
              <a:rPr lang="en-US" dirty="0">
                <a:latin typeface="Times New Roman" panose="02020603050405020304" pitchFamily="18" charset="0"/>
                <a:cs typeface="Times New Roman" panose="02020603050405020304" pitchFamily="18" charset="0"/>
              </a:rPr>
              <a:t> for better accuracy</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Mobile application for </a:t>
            </a:r>
            <a:r>
              <a:rPr lang="en-US" b="1" dirty="0">
                <a:latin typeface="Times New Roman" panose="02020603050405020304" pitchFamily="18" charset="0"/>
                <a:cs typeface="Times New Roman" panose="02020603050405020304" pitchFamily="18" charset="0"/>
              </a:rPr>
              <a:t>easy access</a:t>
            </a:r>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 for </a:t>
            </a:r>
            <a:r>
              <a:rPr lang="en-US" b="1" dirty="0">
                <a:latin typeface="Times New Roman" panose="02020603050405020304" pitchFamily="18" charset="0"/>
                <a:cs typeface="Times New Roman" panose="02020603050405020304" pitchFamily="18" charset="0"/>
              </a:rPr>
              <a:t>more transport routes and cities</a:t>
            </a:r>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Advanced analytics for </a:t>
            </a:r>
            <a:r>
              <a:rPr lang="en-US" b="1" dirty="0">
                <a:latin typeface="Times New Roman" panose="02020603050405020304" pitchFamily="18" charset="0"/>
                <a:cs typeface="Times New Roman" panose="02020603050405020304" pitchFamily="18" charset="0"/>
              </a:rPr>
              <a:t>better delay prediction</a:t>
            </a:r>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Integration with </a:t>
            </a:r>
            <a:r>
              <a:rPr lang="en-US" b="1" dirty="0">
                <a:latin typeface="Times New Roman" panose="02020603050405020304" pitchFamily="18" charset="0"/>
                <a:cs typeface="Times New Roman" panose="02020603050405020304" pitchFamily="18" charset="0"/>
              </a:rPr>
              <a:t>smart city platforms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10746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45F20A-1A82-80BD-1898-54181643A987}"/>
              </a:ext>
            </a:extLst>
          </p:cNvPr>
          <p:cNvSpPr txBox="1"/>
          <p:nvPr/>
        </p:nvSpPr>
        <p:spPr>
          <a:xfrm>
            <a:off x="1115616" y="1772816"/>
            <a:ext cx="6606480" cy="3139321"/>
          </a:xfrm>
          <a:prstGeom prst="rect">
            <a:avLst/>
          </a:prstGeom>
          <a:noFill/>
        </p:spPr>
        <p:txBody>
          <a:bodyPr wrap="square">
            <a:spAutoFit/>
          </a:bodyPr>
          <a:lstStyle/>
          <a:p>
            <a:pPr algn="ctr">
              <a:buNone/>
            </a:pPr>
            <a:r>
              <a:rPr lang="en-US" b="1" dirty="0">
                <a:solidFill>
                  <a:srgbClr val="00B050"/>
                </a:solidFill>
                <a:latin typeface="Times New Roman" panose="02020603050405020304" pitchFamily="18" charset="0"/>
                <a:cs typeface="Times New Roman" panose="02020603050405020304" pitchFamily="18" charset="0"/>
              </a:rPr>
              <a:t>CONCLUSION </a:t>
            </a:r>
          </a:p>
          <a:p>
            <a:pPr algn="just">
              <a:buNone/>
            </a:pPr>
            <a:r>
              <a:rPr lang="en-US" dirty="0">
                <a:latin typeface="Times New Roman" panose="02020603050405020304" pitchFamily="18" charset="0"/>
                <a:cs typeface="Times New Roman" panose="02020603050405020304" pitchFamily="18" charset="0"/>
              </a:rPr>
              <a:t>This project successfully demonstrates the use of machine learning to predict public transport delays and provide realistic arrival time information for commuters. By considering important factors such as traffic conditions, weather, and peak-hour travel, the system offers more accurate and reliable predictions compared to traditional timetable-based systems. The web-based application is easy to use and supports multiple transport modes including buses, metro, and trains. Overall, the proposed system improves journey planning, reduces travel uncertainty, and contributes to the development of smarter and more efficient public transportation systems.</a:t>
            </a:r>
          </a:p>
        </p:txBody>
      </p:sp>
    </p:spTree>
    <p:extLst>
      <p:ext uri="{BB962C8B-B14F-4D97-AF65-F5344CB8AC3E}">
        <p14:creationId xmlns:p14="http://schemas.microsoft.com/office/powerpoint/2010/main" val="12313964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5EB830-B26C-FF09-BF9E-D681A0E541CA}"/>
              </a:ext>
            </a:extLst>
          </p:cNvPr>
          <p:cNvPicPr>
            <a:picLocks noChangeAspect="1"/>
          </p:cNvPicPr>
          <p:nvPr/>
        </p:nvPicPr>
        <p:blipFill>
          <a:blip r:embed="rId2"/>
          <a:srcRect t="11062" b="9333"/>
          <a:stretch>
            <a:fillRect/>
          </a:stretch>
        </p:blipFill>
        <p:spPr>
          <a:xfrm>
            <a:off x="0" y="1"/>
            <a:ext cx="9144000" cy="68580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2117111104"/>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01D17D"/>
      </a:accent1>
      <a:accent2>
        <a:srgbClr val="84C72A"/>
      </a:accent2>
      <a:accent3>
        <a:srgbClr val="E1D126"/>
      </a:accent3>
      <a:accent4>
        <a:srgbClr val="E29932"/>
      </a:accent4>
      <a:accent5>
        <a:srgbClr val="E56526"/>
      </a:accent5>
      <a:accent6>
        <a:srgbClr val="D63731"/>
      </a:accent6>
      <a:hlink>
        <a:srgbClr val="35FA7F"/>
      </a:hlink>
      <a:folHlink>
        <a:srgbClr val="BAFC85"/>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2B2A868B-6BC2-4B3E-98B9-1258F41035D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TM04033937[[fn=Vapor Trail]]</Template>
  <TotalTime>183</TotalTime>
  <Words>1999</Words>
  <Application>Microsoft Office PowerPoint</Application>
  <PresentationFormat>On-screen Show (4:3)</PresentationFormat>
  <Paragraphs>247</Paragraphs>
  <Slides>25</Slides>
  <Notes>1</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Century Gothic</vt:lpstr>
      <vt:lpstr>Times New Roman</vt:lpstr>
      <vt:lpstr>Vapor Trail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Muthikella Srihari</dc:creator>
  <cp:lastModifiedBy>Muthikella Srihari</cp:lastModifiedBy>
  <cp:revision>2</cp:revision>
  <dcterms:created xsi:type="dcterms:W3CDTF">2026-01-29T13:33:54Z</dcterms:created>
  <dcterms:modified xsi:type="dcterms:W3CDTF">2026-03-16T12:00:07Z</dcterms:modified>
</cp:coreProperties>
</file>